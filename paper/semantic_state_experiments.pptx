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52b5d0aaaf4c89" /><Relationship Type="http://schemas.openxmlformats.org/officeDocument/2006/relationships/extended-properties" Target="/docProps/app.xml" Id="R92051d4406404c5b" /><Relationship Type="http://schemas.openxmlformats.org/officeDocument/2006/relationships/officeDocument" Target="/ppt/presentation.xml" Id="R7f46e80c2b1646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25c3d36e04797"/>
  </p:sldMasterIdLst>
  <p:notesMasterIdLst>
    <p:notesMasterId xmlns:r="http://schemas.openxmlformats.org/officeDocument/2006/relationships" r:id="R7dd1f4f1c59c44f7"/>
  </p:notesMasterIdLst>
  <p:sldIdLst>
    <p:sldId xmlns:r="http://schemas.openxmlformats.org/officeDocument/2006/relationships" id="256" r:id="R3a72893c2a5649d2"/>
    <p:sldId xmlns:r="http://schemas.openxmlformats.org/officeDocument/2006/relationships" id="257" r:id="Rfba76a1419434a89"/>
    <p:sldId xmlns:r="http://schemas.openxmlformats.org/officeDocument/2006/relationships" id="258" r:id="R22979584484c42a3"/>
    <p:sldId xmlns:r="http://schemas.openxmlformats.org/officeDocument/2006/relationships" id="259" r:id="Rbb2796e6d2ff4abe"/>
    <p:sldId xmlns:r="http://schemas.openxmlformats.org/officeDocument/2006/relationships" id="260" r:id="Raf9bc52bcc5541fe"/>
    <p:sldId xmlns:r="http://schemas.openxmlformats.org/officeDocument/2006/relationships" id="261" r:id="Rbe8d3a1af92a4e34"/>
    <p:sldId xmlns:r="http://schemas.openxmlformats.org/officeDocument/2006/relationships" id="262" r:id="Ra28054c47d3b43da"/>
    <p:sldId xmlns:r="http://schemas.openxmlformats.org/officeDocument/2006/relationships" id="263" r:id="Rdb0b8bd739414c90"/>
    <p:sldId xmlns:r="http://schemas.openxmlformats.org/officeDocument/2006/relationships" id="264" r:id="Rc6f80dc1a0364dc8"/>
    <p:sldId xmlns:r="http://schemas.openxmlformats.org/officeDocument/2006/relationships" id="265" r:id="R4a4cf02a9130412c"/>
    <p:sldId xmlns:r="http://schemas.openxmlformats.org/officeDocument/2006/relationships" id="266" r:id="R2b25541cf9c04685"/>
    <p:sldId xmlns:r="http://schemas.openxmlformats.org/officeDocument/2006/relationships" id="267" r:id="R51954051e3db4680"/>
    <p:sldId xmlns:r="http://schemas.openxmlformats.org/officeDocument/2006/relationships" id="268" r:id="R123a1b3f2aa24faf"/>
    <p:sldId xmlns:r="http://schemas.openxmlformats.org/officeDocument/2006/relationships" id="269" r:id="Rb4316b01f0c949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5c6793f31f484b" /><Relationship Type="http://schemas.openxmlformats.org/officeDocument/2006/relationships/slideMaster" Target="/ppt/slideMasters/slideMaster1.xml" Id="Rf5525c3d36e04797" /><Relationship Type="http://schemas.openxmlformats.org/officeDocument/2006/relationships/notesMaster" Target="/ppt/notesMasters/notesMaster1.xml" Id="R7dd1f4f1c59c44f7" /><Relationship Type="http://schemas.openxmlformats.org/officeDocument/2006/relationships/presProps" Target="/ppt/presProps.xml" Id="R9528651909784888" /><Relationship Type="http://schemas.openxmlformats.org/officeDocument/2006/relationships/tableStyles" Target="/ppt/tableStyles.xml" Id="R8fd47a6755fa468b" /><Relationship Type="http://schemas.openxmlformats.org/officeDocument/2006/relationships/slide" Target="/ppt/slides/slide1.xml" Id="R3a72893c2a5649d2" /><Relationship Type="http://schemas.openxmlformats.org/officeDocument/2006/relationships/slide" Target="/ppt/slides/slide2.xml" Id="Rfba76a1419434a89" /><Relationship Type="http://schemas.openxmlformats.org/officeDocument/2006/relationships/slide" Target="/ppt/slides/slide3.xml" Id="R22979584484c42a3" /><Relationship Type="http://schemas.openxmlformats.org/officeDocument/2006/relationships/slide" Target="/ppt/slides/slide4.xml" Id="Rbb2796e6d2ff4abe" /><Relationship Type="http://schemas.openxmlformats.org/officeDocument/2006/relationships/slide" Target="/ppt/slides/slide5.xml" Id="Raf9bc52bcc5541fe" /><Relationship Type="http://schemas.openxmlformats.org/officeDocument/2006/relationships/slide" Target="/ppt/slides/slide6.xml" Id="Rbe8d3a1af92a4e34" /><Relationship Type="http://schemas.openxmlformats.org/officeDocument/2006/relationships/slide" Target="/ppt/slides/slide7.xml" Id="Ra28054c47d3b43da" /><Relationship Type="http://schemas.openxmlformats.org/officeDocument/2006/relationships/slide" Target="/ppt/slides/slide8.xml" Id="Rdb0b8bd739414c90" /><Relationship Type="http://schemas.openxmlformats.org/officeDocument/2006/relationships/slide" Target="/ppt/slides/slide9.xml" Id="Rc6f80dc1a0364dc8" /><Relationship Type="http://schemas.openxmlformats.org/officeDocument/2006/relationships/slide" Target="/ppt/slides/slide10.xml" Id="R4a4cf02a9130412c" /><Relationship Type="http://schemas.openxmlformats.org/officeDocument/2006/relationships/slide" Target="/ppt/slides/slide11.xml" Id="R2b25541cf9c04685" /><Relationship Type="http://schemas.openxmlformats.org/officeDocument/2006/relationships/slide" Target="/ppt/slides/slide12.xml" Id="R51954051e3db4680" /><Relationship Type="http://schemas.openxmlformats.org/officeDocument/2006/relationships/slide" Target="/ppt/slides/slide13.xml" Id="R123a1b3f2aa24faf" /><Relationship Type="http://schemas.openxmlformats.org/officeDocument/2006/relationships/slide" Target="/ppt/slides/slide14.xml" Id="Rb4316b01f0c949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6c3534bfa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af451777e4fe0" /><Relationship Type="http://schemas.openxmlformats.org/officeDocument/2006/relationships/notesMaster" Target="/ppt/notesMasters/notesMaster1.xml" Id="R0c91551a63bd47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cfe7c9aad485b" /><Relationship Type="http://schemas.openxmlformats.org/officeDocument/2006/relationships/notesMaster" Target="/ppt/notesMasters/notesMaster1.xml" Id="Rc36193df10a3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3bf3e190c4244" /><Relationship Type="http://schemas.openxmlformats.org/officeDocument/2006/relationships/notesMaster" Target="/ppt/notesMasters/notesMaster1.xml" Id="R9cff1d0480684a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e6ef13a5594f9e" /><Relationship Type="http://schemas.openxmlformats.org/officeDocument/2006/relationships/notesMaster" Target="/ppt/notesMasters/notesMaster1.xml" Id="Rac2a923e69a646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9197bc2a1f45ac" /><Relationship Type="http://schemas.openxmlformats.org/officeDocument/2006/relationships/notesMaster" Target="/ppt/notesMasters/notesMaster1.xml" Id="R598741dd16f342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a0afebfab4726" /><Relationship Type="http://schemas.openxmlformats.org/officeDocument/2006/relationships/notesMaster" Target="/ppt/notesMasters/notesMaster1.xml" Id="R4a2ec0e439234a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a62f9bd087444c" /><Relationship Type="http://schemas.openxmlformats.org/officeDocument/2006/relationships/notesMaster" Target="/ppt/notesMasters/notesMaster1.xml" Id="Rf5e4b517da904b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a6687bc1e14570" /><Relationship Type="http://schemas.openxmlformats.org/officeDocument/2006/relationships/notesMaster" Target="/ppt/notesMasters/notesMaster1.xml" Id="R7840b96523a14b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66bfb36a3b4faf" /><Relationship Type="http://schemas.openxmlformats.org/officeDocument/2006/relationships/notesMaster" Target="/ppt/notesMasters/notesMaster1.xml" Id="Rc4200cd3246742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e898ae11040c2" /><Relationship Type="http://schemas.openxmlformats.org/officeDocument/2006/relationships/notesMaster" Target="/ppt/notesMasters/notesMaster1.xml" Id="R4e8db3f4301640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a3b35526f540f8" /><Relationship Type="http://schemas.openxmlformats.org/officeDocument/2006/relationships/notesMaster" Target="/ppt/notesMasters/notesMaster1.xml" Id="R925bf37844c546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1eca2ac0774913" /><Relationship Type="http://schemas.openxmlformats.org/officeDocument/2006/relationships/notesMaster" Target="/ppt/notesMasters/notesMaster1.xml" Id="Ra08e83d81c9b47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9c25f5df99483c" /><Relationship Type="http://schemas.openxmlformats.org/officeDocument/2006/relationships/notesMaster" Target="/ppt/notesMasters/notesMaster1.xml" Id="Rb26f27db1a6b4d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fc7752a09b48ca" /><Relationship Type="http://schemas.openxmlformats.org/officeDocument/2006/relationships/notesMaster" Target="/ppt/notesMasters/notesMaster1.xml" Id="R6fb389932c6a4e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/Users/virginiaceccatelli/Documents/semantic-flow/docs/PAPER_OUTLINE.md</a:t>
            </a:r>
          </a:p>
          <a:p xmlns:a="http://schemas.openxmlformats.org/drawingml/2006/main">
            <a:r>
              <a:t>- /Users/virginiaceccatelli/Documents/semantic-flow/docs/RESULTS.md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/Users/virginiaceccatelli/Documents/semantic-flow/docs/PAPER_OUTLINE.md</a:t>
            </a:r>
          </a:p>
          <a:p xmlns:a="http://schemas.openxmlformats.org/drawingml/2006/main">
            <a:r>
              <a:t>- /Users/virginiaceccatelli/Documents/semantic-flow/docs/METHODS.md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/Users/virginiaceccatelli/Documents/semantic-flow/docs/METHODS.md</a:t>
            </a:r>
          </a:p>
          <a:p xmlns:a="http://schemas.openxmlformats.org/drawingml/2006/main">
            <a:r>
              <a:t>- /Users/virginiaceccatelli/Documents/semantic-flow/docs/EXPERIMENTS.md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/Users/virginiaceccatelli/Documents/semantic-flow/docs/PAPER_OUTLINE.md</a:t>
            </a:r>
          </a:p>
          <a:p xmlns:a="http://schemas.openxmlformats.org/drawingml/2006/main">
            <a:r>
              <a:t>- /Users/virginiaceccatelli/Documents/semantic-flow/docs/METHODS.md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/Users/virginiaceccatelli/Documents/semantic-flow/results/figures/binding_strata_deepseek-coder-6.7b_core.png</a:t>
            </a:r>
          </a:p>
          <a:p xmlns:a="http://schemas.openxmlformats.org/drawingml/2006/main">
            <a:r>
              <a:t>- /Users/virginiaceccatelli/Documents/semantic-flow/results/tables/static_probes_deepseek-coder-6.7b_core.csv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/Users/virginiaceccatelli/Documents/semantic-flow/results/tables/static_probes_deepseek-coder-6.7b_core.csv</a:t>
            </a:r>
          </a:p>
          <a:p xmlns:a="http://schemas.openxmlformats.org/drawingml/2006/main">
            <a:r>
              <a:t>- /Users/virginiaceccatelli/Documents/semantic-flow/docs/RESULTS.md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/Users/virginiaceccatelli/Documents/semantic-flow/results/figures/context_binding_deepseek-coder-6.7b.png</a:t>
            </a:r>
          </a:p>
          <a:p xmlns:a="http://schemas.openxmlformats.org/drawingml/2006/main">
            <a:r>
              <a:t>- /Users/virginiaceccatelli/Documents/semantic-flow/results/tables/context_degradation_deepseek-coder-6.7b.csv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/Users/virginiaceccatelli/Documents/semantic-flow/results/figures/obfuscation_binding_deepseek-coder-6.7b.png</a:t>
            </a:r>
          </a:p>
          <a:p xmlns:a="http://schemas.openxmlformats.org/drawingml/2006/main">
            <a:r>
              <a:t>- /Users/virginiaceccatelli/Documents/semantic-flow/results/tables/obfuscation_robustness_deepseek-coder-6.7b.csv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/Users/virginiaceccatelli/Documents/semantic-flow/results/figures/patching_recovery_deepseek-coder-6.7b.png</a:t>
            </a:r>
          </a:p>
          <a:p xmlns:a="http://schemas.openxmlformats.org/drawingml/2006/main">
            <a:r>
              <a:t>- /Users/virginiaceccatelli/Documents/semantic-flow/results/tables/causal_patching_deepseek-coder-6.7b.csv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/Users/virginiaceccatelli/Documents/semantic-flow/results/tables/behavioral_sanity_deepseek-coder-6.7b.csv</a:t>
            </a:r>
          </a:p>
          <a:p xmlns:a="http://schemas.openxmlformats.org/drawingml/2006/main">
            <a:r>
              <a:t>- /Users/virginiaceccatelli/Documents/semantic-flow/results/tables/behavioral_leadtime_summary_deepseek-coder-6.7b.csv</a:t>
            </a:r>
          </a:p>
          <a:p xmlns:a="http://schemas.openxmlformats.org/drawingml/2006/main">
            <a:r>
              <a:t>- /Users/virginiaceccatelli/Documents/semantic-flow/results/tables/behavioral_sanity_deepseek-coder-1.3b.csv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/Users/virginiaceccatelli/Documents/semantic-flow/results/figures/jlens_validation_nexttoken_deepseek-coder-6.7b.png</a:t>
            </a:r>
          </a:p>
          <a:p xmlns:a="http://schemas.openxmlformats.org/drawingml/2006/main">
            <a:r>
              <a:t>- /Users/virginiaceccatelli/Documents/semantic-flow/results/tables/jlens_validation_checks_deepseek-coder-6.7b.csv</a:t>
            </a:r>
          </a:p>
          <a:p xmlns:a="http://schemas.openxmlformats.org/drawingml/2006/main">
            <a:r>
              <a:t>- /Users/virginiaceccatelli/Documents/semantic-flow/results/tables/jlens_validation_deepseek-coder-6.7b.csv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/Users/virginiaceccatelli/Documents/semantic-flow/results/figures/jlens_controldep_dissociation_deepseek-coder-6.7b.png</a:t>
            </a:r>
          </a:p>
          <a:p xmlns:a="http://schemas.openxmlformats.org/drawingml/2006/main">
            <a:r>
              <a:t>- /Users/virginiaceccatelli/Documents/semantic-flow/results/figures/jlens_controldep_temporally_matched_deepseek-coder-6.7b.png</a:t>
            </a:r>
          </a:p>
          <a:p xmlns:a="http://schemas.openxmlformats.org/drawingml/2006/main">
            <a:r>
              <a:t>- /Users/virginiaceccatelli/Documents/semantic-flow/results/tables/jlens_controldep_summary_deepseek-coder-6.7b.csv</a:t>
            </a:r>
          </a:p>
          <a:p xmlns:a="http://schemas.openxmlformats.org/drawingml/2006/main">
            <a:r>
              <a:t>- /Users/virginiaceccatelli/Documents/semantic-flow/results/tables/static_probes_deepseek-coder-6.7b_core.csv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/Users/virginiaceccatelli/Documents/semantic-flow/results/figures/layers_selectivity_deepseek-coder-6.7b_csn_python_200.png</a:t>
            </a:r>
          </a:p>
          <a:p xmlns:a="http://schemas.openxmlformats.org/drawingml/2006/main">
            <a:r>
              <a:t>- /Users/virginiaceccatelli/Documents/semantic-flow/results/tables/static_probes_deepseek-coder-6.7b_csn_python_200.csv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/Users/virginiaceccatelli/Documents/semantic-flow/docs/PAPER_OUTLINE.md</a:t>
            </a:r>
          </a:p>
          <a:p xmlns:a="http://schemas.openxmlformats.org/drawingml/2006/main">
            <a:r>
              <a:t>- /Users/virginiaceccatelli/Documents/semantic-flow/docs/RESULTS.md</a:t>
            </a:r>
          </a:p>
          <a:p xmlns:a="http://schemas.openxmlformats.org/drawingml/2006/main">
            <a:r>
              <a:t>- /Users/virginiaceccatelli/Documents/semantic-flow/results/tables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b2e1e870045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285c52854438c" /><Relationship Type="http://schemas.openxmlformats.org/officeDocument/2006/relationships/slideLayout" Target="/ppt/slideLayouts/slideLayout1.xml" Id="R7053744f89b84a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3744f89b84a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6099819df404a" /><Relationship Type="http://schemas.openxmlformats.org/officeDocument/2006/relationships/notesSlide" Target="/ppt/notesSlides/notesSlide1.xml" Id="R52ad641263a74f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2f72ef90148bc" /><Relationship Type="http://schemas.openxmlformats.org/officeDocument/2006/relationships/notesSlide" Target="/ppt/notesSlides/notesSlide2.xml" Id="R5869d22946794d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fcf2952ae4c1d" /><Relationship Type="http://schemas.openxmlformats.org/officeDocument/2006/relationships/notesSlide" Target="/ppt/notesSlides/notesSlide3.xml" Id="R2eaf0cc2436541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9fb6f12ec4855" /><Relationship Type="http://schemas.openxmlformats.org/officeDocument/2006/relationships/notesSlide" Target="/ppt/notesSlides/notesSlide4.xml" Id="Rb74a1b06a24b4a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ce9ba40604f2a" /><Relationship Type="http://schemas.openxmlformats.org/officeDocument/2006/relationships/image" Target="/ppt/media/image.png" Id="R0d0a32be966d4b95" /><Relationship Type="http://schemas.openxmlformats.org/officeDocument/2006/relationships/notesSlide" Target="/ppt/notesSlides/notesSlide5.xml" Id="R2d22478e9284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a645fef00432a" /><Relationship Type="http://schemas.openxmlformats.org/officeDocument/2006/relationships/notesSlide" Target="/ppt/notesSlides/notesSlide6.xml" Id="R715f1fe610ca46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b4fe8055046ae" /><Relationship Type="http://schemas.openxmlformats.org/officeDocument/2006/relationships/image" Target="/ppt/media/image2.png" Id="Re8200a6a5c6e4f35" /><Relationship Type="http://schemas.openxmlformats.org/officeDocument/2006/relationships/notesSlide" Target="/ppt/notesSlides/notesSlide7.xml" Id="Rb109c54ca28447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e36dd660e4fd5" /><Relationship Type="http://schemas.openxmlformats.org/officeDocument/2006/relationships/image" Target="/ppt/media/image3.png" Id="Rc208288030bf4f6a" /><Relationship Type="http://schemas.openxmlformats.org/officeDocument/2006/relationships/notesSlide" Target="/ppt/notesSlides/notesSlide8.xml" Id="R33c1572e8a354f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6fda9daf240e1" /><Relationship Type="http://schemas.openxmlformats.org/officeDocument/2006/relationships/image" Target="/ppt/media/image4.png" Id="Ra29c3cb2af714444" /><Relationship Type="http://schemas.openxmlformats.org/officeDocument/2006/relationships/notesSlide" Target="/ppt/notesSlides/notesSlide9.xml" Id="R059f56a2840945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86816fd074264" /><Relationship Type="http://schemas.openxmlformats.org/officeDocument/2006/relationships/notesSlide" Target="/ppt/notesSlides/notesSlide10.xml" Id="Rf4266dadb31a43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8a33f40bb47a6" /><Relationship Type="http://schemas.openxmlformats.org/officeDocument/2006/relationships/image" Target="/ppt/media/image5.png" Id="Raae110066e8c45ea" /><Relationship Type="http://schemas.openxmlformats.org/officeDocument/2006/relationships/notesSlide" Target="/ppt/notesSlides/notesSlide11.xml" Id="R8097543eadb241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c0bbe32ec4cfd" /><Relationship Type="http://schemas.openxmlformats.org/officeDocument/2006/relationships/image" Target="/ppt/media/image6.png" Id="R3cf018ffb0d245ad" /><Relationship Type="http://schemas.openxmlformats.org/officeDocument/2006/relationships/notesSlide" Target="/ppt/notesSlides/notesSlide12.xml" Id="Rbce53595b4f645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790ce66f74486" /><Relationship Type="http://schemas.openxmlformats.org/officeDocument/2006/relationships/image" Target="/ppt/media/image7.png" Id="Re1cc28e662ed4269" /><Relationship Type="http://schemas.openxmlformats.org/officeDocument/2006/relationships/notesSlide" Target="/ppt/notesSlides/notesSlide13.xml" Id="Rfad63e03f8214d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938da56b24618" /><Relationship Type="http://schemas.openxmlformats.org/officeDocument/2006/relationships/notesSlide" Target="/ppt/notesSlides/notesSlide14.xml" Id="Rcd12374e608f46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-42-48">
            <a:extLst xmlns:a="http://schemas.openxmlformats.org/drawingml/2006/main">
              <a:ext uri="{FF2B5EF4-FFF2-40B4-BE49-F238E27FC236}">
                <a16:creationId xmlns:a16="http://schemas.microsoft.com/office/drawing/2014/main" id="{BD638091-32BA-453F-BB26-F6897765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50F3A1B-7D51-4910-9476-41B953D4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EXPERIMENTS AND FINDINGS SO FAR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543B2B30-28B9-47C0-91DB-E11661CC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04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 models compute</a:t>
            </a:r>
          </a:p>
          <a:p xmlns:a="http://schemas.openxmlformats.org/drawingml/2006/main">
            <a:pPr algn="l">
              <a:defRPr sz="5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program semantics</a:t>
            </a:r>
          </a:p>
          <a:p xmlns:a="http://schemas.openxmlformats.org/drawingml/2006/main">
            <a:pPr algn="l">
              <a:defRPr sz="5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they cannot report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CDDE139-58F6-4C7E-9CF7-FE1FEA12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6250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 simple account of what is built, used, verbalized, and predictive</a:t>
            </a:r>
          </a:p>
        </p:txBody>
      </p:sp>
      <p:sp>
        <p:nvSpPr>
          <p:cNvPr id="5" name="rule-42-612">
            <a:extLst xmlns:a="http://schemas.openxmlformats.org/drawingml/2006/main">
              <a:ext uri="{FF2B5EF4-FFF2-40B4-BE49-F238E27FC236}">
                <a16:creationId xmlns:a16="http://schemas.microsoft.com/office/drawing/2014/main" id="{835EF1A0-1A17-4AFC-9441-0C56D36E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E5EBAEF5-25BA-494F-83AA-ABEE0BAC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Virginia Ceccatelli · University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865366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2">
            <a:extLst xmlns:a="http://schemas.openxmlformats.org/drawingml/2006/main">
              <a:ext uri="{FF2B5EF4-FFF2-40B4-BE49-F238E27FC236}">
                <a16:creationId xmlns:a16="http://schemas.microsoft.com/office/drawing/2014/main" id="{DDB00009-9AE0-470E-A2AD-5785C41D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question is not whether code models perform well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96621194-7541-4BDD-9550-4B2C87AA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94B18A28-C6D6-40C4-9159-70DA7BC1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 they compute program relations — or exploit surface cues?</a:t>
            </a:r>
          </a:p>
        </p:txBody>
      </p:sp>
      <p:sp>
        <p:nvSpPr>
          <p:cNvPr id="4" name="surface-band">
            <a:extLst xmlns:a="http://schemas.openxmlformats.org/drawingml/2006/main">
              <a:ext uri="{FF2B5EF4-FFF2-40B4-BE49-F238E27FC236}">
                <a16:creationId xmlns:a16="http://schemas.microsoft.com/office/drawing/2014/main" id="{71D276E4-B70D-45FC-B3EB-5D159804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486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rface-head">
            <a:extLst xmlns:a="http://schemas.openxmlformats.org/drawingml/2006/main">
              <a:ext uri="{FF2B5EF4-FFF2-40B4-BE49-F238E27FC236}">
                <a16:creationId xmlns:a16="http://schemas.microsoft.com/office/drawing/2014/main" id="{6D21BBBE-5E46-4821-B78F-E3D4EA2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Surface cues</a:t>
            </a:r>
          </a:p>
        </p:txBody>
      </p:sp>
      <p:sp>
        <p:nvSpPr>
          <p:cNvPr id="6" name="bullet-dot-70-344-0">
            <a:extLst xmlns:a="http://schemas.openxmlformats.org/drawingml/2006/main">
              <a:ext uri="{FF2B5EF4-FFF2-40B4-BE49-F238E27FC236}">
                <a16:creationId xmlns:a16="http://schemas.microsoft.com/office/drawing/2014/main" id="{CABE9D1F-A834-4672-8DF0-F051C1EF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70-344-0">
            <a:extLst xmlns:a="http://schemas.openxmlformats.org/drawingml/2006/main">
              <a:ext uri="{FF2B5EF4-FFF2-40B4-BE49-F238E27FC236}">
                <a16:creationId xmlns:a16="http://schemas.microsoft.com/office/drawing/2014/main" id="{7AF187B8-4C7D-42B7-B4DE-F8EEE671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552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Identifier spelling</a:t>
            </a:r>
          </a:p>
        </p:txBody>
      </p:sp>
      <p:sp>
        <p:nvSpPr>
          <p:cNvPr id="8" name="bullet-dot-70-344-1">
            <a:extLst xmlns:a="http://schemas.openxmlformats.org/drawingml/2006/main">
              <a:ext uri="{FF2B5EF4-FFF2-40B4-BE49-F238E27FC236}">
                <a16:creationId xmlns:a16="http://schemas.microsoft.com/office/drawing/2014/main" id="{0B6FBF0F-B662-4181-886D-C0F7C997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70-344-1">
            <a:extLst xmlns:a="http://schemas.openxmlformats.org/drawingml/2006/main">
              <a:ext uri="{FF2B5EF4-FFF2-40B4-BE49-F238E27FC236}">
                <a16:creationId xmlns:a16="http://schemas.microsoft.com/office/drawing/2014/main" id="{1A7B6B5E-A4E6-4871-9ADB-4CBE4B6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552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Token distance</a:t>
            </a:r>
          </a:p>
        </p:txBody>
      </p:sp>
      <p:sp>
        <p:nvSpPr>
          <p:cNvPr id="10" name="bullet-dot-70-344-2">
            <a:extLst xmlns:a="http://schemas.openxmlformats.org/drawingml/2006/main">
              <a:ext uri="{FF2B5EF4-FFF2-40B4-BE49-F238E27FC236}">
                <a16:creationId xmlns:a16="http://schemas.microsoft.com/office/drawing/2014/main" id="{4619267B-D699-42A7-89DE-EBF7362F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70-344-2">
            <a:extLst xmlns:a="http://schemas.openxmlformats.org/drawingml/2006/main">
              <a:ext uri="{FF2B5EF4-FFF2-40B4-BE49-F238E27FC236}">
                <a16:creationId xmlns:a16="http://schemas.microsoft.com/office/drawing/2014/main" id="{526FE64F-215C-4A10-AA6C-700AFBE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2552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Indentation</a:t>
            </a:r>
          </a:p>
        </p:txBody>
      </p:sp>
      <p:sp>
        <p:nvSpPr>
          <p:cNvPr id="12" name="versus">
            <a:extLst xmlns:a="http://schemas.openxmlformats.org/drawingml/2006/main">
              <a:ext uri="{FF2B5EF4-FFF2-40B4-BE49-F238E27FC236}">
                <a16:creationId xmlns:a16="http://schemas.microsoft.com/office/drawing/2014/main" id="{A857F746-C1D5-488A-AE97-A5B40992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704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  <p:sp>
        <p:nvSpPr>
          <p:cNvPr id="13" name="semantic-band">
            <a:extLst xmlns:a="http://schemas.openxmlformats.org/drawingml/2006/main">
              <a:ext uri="{FF2B5EF4-FFF2-40B4-BE49-F238E27FC236}">
                <a16:creationId xmlns:a16="http://schemas.microsoft.com/office/drawing/2014/main" id="{A3009DD4-363D-4EBA-81FC-CFC3F8B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6438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mantic-head">
            <a:extLst xmlns:a="http://schemas.openxmlformats.org/drawingml/2006/main">
              <a:ext uri="{FF2B5EF4-FFF2-40B4-BE49-F238E27FC236}">
                <a16:creationId xmlns:a16="http://schemas.microsoft.com/office/drawing/2014/main" id="{E9B737E0-0F39-4245-9FF5-4F1971F9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Program-semantic state</a:t>
            </a:r>
          </a:p>
        </p:txBody>
      </p:sp>
      <p:sp>
        <p:nvSpPr>
          <p:cNvPr id="15" name="bullet-dot-596-338-0">
            <a:extLst xmlns:a="http://schemas.openxmlformats.org/drawingml/2006/main">
              <a:ext uri="{FF2B5EF4-FFF2-40B4-BE49-F238E27FC236}">
                <a16:creationId xmlns:a16="http://schemas.microsoft.com/office/drawing/2014/main" id="{D65CE5BF-5F73-4776-B268-8CD027E1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194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bullet-596-338-0">
            <a:extLst xmlns:a="http://schemas.openxmlformats.org/drawingml/2006/main">
              <a:ext uri="{FF2B5EF4-FFF2-40B4-BE49-F238E27FC236}">
                <a16:creationId xmlns:a16="http://schemas.microsoft.com/office/drawing/2014/main" id="{FDBCFA85-F724-421E-803A-8283B314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Which definition a use refers to</a:t>
            </a:r>
          </a:p>
        </p:txBody>
      </p:sp>
      <p:sp>
        <p:nvSpPr>
          <p:cNvPr id="17" name="bullet-dot-596-338-1">
            <a:extLst xmlns:a="http://schemas.openxmlformats.org/drawingml/2006/main">
              <a:ext uri="{FF2B5EF4-FFF2-40B4-BE49-F238E27FC236}">
                <a16:creationId xmlns:a16="http://schemas.microsoft.com/office/drawing/2014/main" id="{DEB16247-0926-4781-B135-07A1A21E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95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8" name="bullet-596-338-1">
            <a:extLst xmlns:a="http://schemas.openxmlformats.org/drawingml/2006/main">
              <a:ext uri="{FF2B5EF4-FFF2-40B4-BE49-F238E27FC236}">
                <a16:creationId xmlns:a16="http://schemas.microsoft.com/office/drawing/2014/main" id="{E673EF6A-1CD7-42AE-B069-91E383E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9570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Which definition reaches a use</a:t>
            </a:r>
          </a:p>
        </p:txBody>
      </p:sp>
      <p:sp>
        <p:nvSpPr>
          <p:cNvPr id="19" name="bullet-dot-596-338-2">
            <a:extLst xmlns:a="http://schemas.openxmlformats.org/drawingml/2006/main">
              <a:ext uri="{FF2B5EF4-FFF2-40B4-BE49-F238E27FC236}">
                <a16:creationId xmlns:a16="http://schemas.microsoft.com/office/drawing/2014/main" id="{458E11D0-5A6F-4ABB-B2E9-6CF1C4B5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719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0" name="bullet-596-338-2">
            <a:extLst xmlns:a="http://schemas.openxmlformats.org/drawingml/2006/main">
              <a:ext uri="{FF2B5EF4-FFF2-40B4-BE49-F238E27FC236}">
                <a16:creationId xmlns:a16="http://schemas.microsoft.com/office/drawing/2014/main" id="{DAE4CAA9-2132-450F-A908-259A3E71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Which guard controls a statement</a:t>
            </a:r>
          </a:p>
        </p:txBody>
      </p:sp>
      <p:sp>
        <p:nvSpPr>
          <p:cNvPr id="21" name="bullet-dot-596-338-3">
            <a:extLst xmlns:a="http://schemas.openxmlformats.org/drawingml/2006/main">
              <a:ext uri="{FF2B5EF4-FFF2-40B4-BE49-F238E27FC236}">
                <a16:creationId xmlns:a16="http://schemas.microsoft.com/office/drawing/2014/main" id="{F2CC93FC-5E7B-4FF8-8538-26A8480C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482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2" name="bullet-596-338-3">
            <a:extLst xmlns:a="http://schemas.openxmlformats.org/drawingml/2006/main">
              <a:ext uri="{FF2B5EF4-FFF2-40B4-BE49-F238E27FC236}">
                <a16:creationId xmlns:a16="http://schemas.microsoft.com/office/drawing/2014/main" id="{94956C44-C912-421B-B5DE-949E95E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4820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Whether a value is tainted or sanitized</a:t>
            </a:r>
          </a:p>
        </p:txBody>
      </p:sp>
      <p:sp>
        <p:nvSpPr>
          <p:cNvPr id="23" name="answer">
            <a:extLst xmlns:a="http://schemas.openxmlformats.org/drawingml/2006/main">
              <a:ext uri="{FF2B5EF4-FFF2-40B4-BE49-F238E27FC236}">
                <a16:creationId xmlns:a16="http://schemas.microsoft.com/office/drawing/2014/main" id="{3290BA82-CBB2-45E8-9F6B-5614CD4F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Answer so far: the state is real — but its availability is selective.</a:t>
            </a:r>
          </a:p>
        </p:txBody>
      </p:sp>
    </p:spTree>
    <p:extLst>
      <p:ext uri="{BB962C8B-B14F-4D97-AF65-F5344CB8AC3E}">
        <p14:creationId xmlns:p14="http://schemas.microsoft.com/office/powerpoint/2010/main" val="1642129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522D681F-F8D2-41F1-A378-021197B6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code lets us ask this cleanly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977AF130-85A5-437D-A009-EB1BF4D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code-bg">
            <a:extLst xmlns:a="http://schemas.openxmlformats.org/drawingml/2006/main">
              <a:ext uri="{FF2B5EF4-FFF2-40B4-BE49-F238E27FC236}">
                <a16:creationId xmlns:a16="http://schemas.microsoft.com/office/drawing/2014/main" id="{88171788-F008-4B41-9E15-3B212315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476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">
            <a:extLst xmlns:a="http://schemas.openxmlformats.org/drawingml/2006/main">
              <a:ext uri="{FF2B5EF4-FFF2-40B4-BE49-F238E27FC236}">
                <a16:creationId xmlns:a16="http://schemas.microsoft.com/office/drawing/2014/main" id="{1EF25746-4E8B-4C95-9C3A-CDE37FA1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x = source()</a:t>
            </a:r>
          </a:p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if flag:</a:t>
            </a:r>
          </a:p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x = sanitize(x)</a:t>
            </a:r>
          </a:p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sink(x)</a:t>
            </a:r>
          </a:p>
        </p:txBody>
      </p:sp>
      <p:sp>
        <p:nvSpPr>
          <p:cNvPr id="5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107F7B31-22CF-44E8-8AE4-6B1AED4D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676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A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7DAE0"/>
                </a:solidFill>
                <a:latin typeface="Helvetica Neue"/>
                <a:ea typeface="Helvetica Neue"/>
                <a:cs typeface="Helvetica Neue"/>
              </a:rPr>
              <a:t>The generator knows the exact binding, def-use, control, and taint graph.</a:t>
            </a:r>
          </a:p>
        </p:txBody>
      </p:sp>
      <p:sp>
        <p:nvSpPr>
          <p:cNvPr id="6" name="setup-head">
            <a:extLst xmlns:a="http://schemas.openxmlformats.org/drawingml/2006/main">
              <a:ext uri="{FF2B5EF4-FFF2-40B4-BE49-F238E27FC236}">
                <a16:creationId xmlns:a16="http://schemas.microsoft.com/office/drawing/2014/main" id="{0A1B0F89-9304-4CF8-8402-2EF62B4A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049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Controlled testbed</a:t>
            </a:r>
          </a:p>
        </p:txBody>
      </p:sp>
      <p:sp>
        <p:nvSpPr>
          <p:cNvPr id="7" name="bullet-dot-566-222-0">
            <a:extLst xmlns:a="http://schemas.openxmlformats.org/drawingml/2006/main">
              <a:ext uri="{FF2B5EF4-FFF2-40B4-BE49-F238E27FC236}">
                <a16:creationId xmlns:a16="http://schemas.microsoft.com/office/drawing/2014/main" id="{5D8E7322-3930-42BB-B6E2-BC9D656F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145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bullet-566-222-0">
            <a:extLst xmlns:a="http://schemas.openxmlformats.org/drawingml/2006/main">
              <a:ext uri="{FF2B5EF4-FFF2-40B4-BE49-F238E27FC236}">
                <a16:creationId xmlns:a16="http://schemas.microsoft.com/office/drawing/2014/main" id="{3DE41DD1-422D-4E4B-AE16-B3C10F52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579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Synthetic Python with construction-known semantic graphs</a:t>
            </a:r>
          </a:p>
        </p:txBody>
      </p:sp>
      <p:sp>
        <p:nvSpPr>
          <p:cNvPr id="9" name="bullet-dot-566-222-1">
            <a:extLst xmlns:a="http://schemas.openxmlformats.org/drawingml/2006/main">
              <a:ext uri="{FF2B5EF4-FFF2-40B4-BE49-F238E27FC236}">
                <a16:creationId xmlns:a16="http://schemas.microsoft.com/office/drawing/2014/main" id="{3C1BAF28-A1FC-4EBE-BC43-C7041B59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bullet-566-222-1">
            <a:extLst xmlns:a="http://schemas.openxmlformats.org/drawingml/2006/main">
              <a:ext uri="{FF2B5EF4-FFF2-40B4-BE49-F238E27FC236}">
                <a16:creationId xmlns:a16="http://schemas.microsoft.com/office/drawing/2014/main" id="{F1183AAC-854E-432B-8803-7C4EAF08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62250"/>
            <a:ext cx="579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Exact AST-span → token alignment</a:t>
            </a:r>
          </a:p>
        </p:txBody>
      </p:sp>
      <p:sp>
        <p:nvSpPr>
          <p:cNvPr id="11" name="bullet-dot-566-222-2">
            <a:extLst xmlns:a="http://schemas.openxmlformats.org/drawingml/2006/main">
              <a:ext uri="{FF2B5EF4-FFF2-40B4-BE49-F238E27FC236}">
                <a16:creationId xmlns:a16="http://schemas.microsoft.com/office/drawing/2014/main" id="{81609715-19E5-4401-9D74-03B5BA7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099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bullet-566-222-2">
            <a:extLst xmlns:a="http://schemas.openxmlformats.org/drawingml/2006/main">
              <a:ext uri="{FF2B5EF4-FFF2-40B4-BE49-F238E27FC236}">
                <a16:creationId xmlns:a16="http://schemas.microsoft.com/office/drawing/2014/main" id="{904E76C3-B931-499D-B226-0747CE18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9950"/>
            <a:ext cx="579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Frozen DeepSeek-Coder 6.7B main model</a:t>
            </a:r>
          </a:p>
        </p:txBody>
      </p:sp>
      <p:sp>
        <p:nvSpPr>
          <p:cNvPr id="13" name="bullet-dot-566-222-3">
            <a:extLst xmlns:a="http://schemas.openxmlformats.org/drawingml/2006/main">
              <a:ext uri="{FF2B5EF4-FFF2-40B4-BE49-F238E27FC236}">
                <a16:creationId xmlns:a16="http://schemas.microsoft.com/office/drawing/2014/main" id="{1C203AA8-49DB-48CF-91B3-A2EF0D5B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576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bullet-566-222-3">
            <a:extLst xmlns:a="http://schemas.openxmlformats.org/drawingml/2006/main">
              <a:ext uri="{FF2B5EF4-FFF2-40B4-BE49-F238E27FC236}">
                <a16:creationId xmlns:a16="http://schemas.microsoft.com/office/drawing/2014/main" id="{9725A13F-2D79-4105-8861-DA631A2E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57650"/>
            <a:ext cx="579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DeepSeek-Coder 1.3B cross-scale replication</a:t>
            </a:r>
          </a:p>
        </p:txBody>
      </p:sp>
      <p:sp>
        <p:nvSpPr>
          <p:cNvPr id="15" name="bullet-dot-566-222-4">
            <a:extLst xmlns:a="http://schemas.openxmlformats.org/drawingml/2006/main">
              <a:ext uri="{FF2B5EF4-FFF2-40B4-BE49-F238E27FC236}">
                <a16:creationId xmlns:a16="http://schemas.microsoft.com/office/drawing/2014/main" id="{4727DEA2-D8DC-4E05-B8AE-36332F37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053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bullet-566-222-4">
            <a:extLst xmlns:a="http://schemas.openxmlformats.org/drawingml/2006/main">
              <a:ext uri="{FF2B5EF4-FFF2-40B4-BE49-F238E27FC236}">
                <a16:creationId xmlns:a16="http://schemas.microsoft.com/office/drawing/2014/main" id="{42EBECB0-1685-4701-AD81-7D72671D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05350"/>
            <a:ext cx="579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Grouped-CV linear probes; shuffled-label selectivity</a:t>
            </a:r>
          </a:p>
        </p:txBody>
      </p:sp>
      <p:sp>
        <p:nvSpPr>
          <p:cNvPr id="17" name="reason">
            <a:extLst xmlns:a="http://schemas.openxmlformats.org/drawingml/2006/main">
              <a:ext uri="{FF2B5EF4-FFF2-40B4-BE49-F238E27FC236}">
                <a16:creationId xmlns:a16="http://schemas.microsoft.com/office/drawing/2014/main" id="{6019BF6A-0F5B-4A02-900F-33AD0263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007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84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Key advantage: counterfactual pairs can pin a baseline to exactly 0.500.</a:t>
            </a:r>
          </a:p>
        </p:txBody>
      </p:sp>
    </p:spTree>
    <p:extLst>
      <p:ext uri="{BB962C8B-B14F-4D97-AF65-F5344CB8AC3E}">
        <p14:creationId xmlns:p14="http://schemas.microsoft.com/office/powerpoint/2010/main" val="1861560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4">
            <a:extLst xmlns:a="http://schemas.openxmlformats.org/drawingml/2006/main">
              <a:ext uri="{FF2B5EF4-FFF2-40B4-BE49-F238E27FC236}">
                <a16:creationId xmlns:a16="http://schemas.microsoft.com/office/drawing/2014/main" id="{9932C56E-E484-49CD-9F82-8858A83E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Four separate claims — each with its own falsifier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8DBBADEA-165E-4370-8C28-5130650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row-bg-0">
            <a:extLst xmlns:a="http://schemas.openxmlformats.org/drawingml/2006/main">
              <a:ext uri="{FF2B5EF4-FFF2-40B4-BE49-F238E27FC236}">
                <a16:creationId xmlns:a16="http://schemas.microsoft.com/office/drawing/2014/main" id="{E903CA14-D19D-4E6A-B819-00B63735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aim-0">
            <a:extLst xmlns:a="http://schemas.openxmlformats.org/drawingml/2006/main">
              <a:ext uri="{FF2B5EF4-FFF2-40B4-BE49-F238E27FC236}">
                <a16:creationId xmlns:a16="http://schemas.microsoft.com/office/drawing/2014/main" id="{F58D9BB7-8032-49CD-B158-E0A76906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BUILT</a:t>
            </a:r>
          </a:p>
        </p:txBody>
      </p:sp>
      <p:sp>
        <p:nvSpPr>
          <p:cNvPr id="5" name="test-0">
            <a:extLst xmlns:a="http://schemas.openxmlformats.org/drawingml/2006/main">
              <a:ext uri="{FF2B5EF4-FFF2-40B4-BE49-F238E27FC236}">
                <a16:creationId xmlns:a16="http://schemas.microsoft.com/office/drawing/2014/main" id="{CCEC4585-B7C8-4244-A2E5-AB80070B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192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Token-identical label flips</a:t>
            </a:r>
          </a:p>
        </p:txBody>
      </p:sp>
      <p:sp>
        <p:nvSpPr>
          <p:cNvPr id="6" name="floor-0">
            <a:extLst xmlns:a="http://schemas.openxmlformats.org/drawingml/2006/main">
              <a:ext uri="{FF2B5EF4-FFF2-40B4-BE49-F238E27FC236}">
                <a16:creationId xmlns:a16="http://schemas.microsoft.com/office/drawing/2014/main" id="{080C40DE-6627-4BB1-B7DA-8C7BC974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192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Surface + embedding floor = 0.500</a:t>
            </a:r>
          </a:p>
        </p:txBody>
      </p:sp>
      <p:sp>
        <p:nvSpPr>
          <p:cNvPr id="7" name="claim-1">
            <a:extLst xmlns:a="http://schemas.openxmlformats.org/drawingml/2006/main">
              <a:ext uri="{FF2B5EF4-FFF2-40B4-BE49-F238E27FC236}">
                <a16:creationId xmlns:a16="http://schemas.microsoft.com/office/drawing/2014/main" id="{19BF2D90-7864-44BA-9CD0-60071D7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USED</a:t>
            </a:r>
          </a:p>
        </p:txBody>
      </p:sp>
      <p:sp>
        <p:nvSpPr>
          <p:cNvPr id="8" name="test-1">
            <a:extLst xmlns:a="http://schemas.openxmlformats.org/drawingml/2006/main">
              <a:ext uri="{FF2B5EF4-FFF2-40B4-BE49-F238E27FC236}">
                <a16:creationId xmlns:a16="http://schemas.microsoft.com/office/drawing/2014/main" id="{C168A88B-8D3D-479F-9901-ED2DC847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Activation patching</a:t>
            </a:r>
          </a:p>
        </p:txBody>
      </p:sp>
      <p:sp>
        <p:nvSpPr>
          <p:cNvPr id="9" name="floor-1">
            <a:extLst xmlns:a="http://schemas.openxmlformats.org/drawingml/2006/main">
              <a:ext uri="{FF2B5EF4-FFF2-40B4-BE49-F238E27FC236}">
                <a16:creationId xmlns:a16="http://schemas.microsoft.com/office/drawing/2014/main" id="{C9E7C608-D382-4FC2-9669-6B71D0D3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Recovery must move with the causal signal</a:t>
            </a:r>
          </a:p>
        </p:txBody>
      </p:sp>
      <p:sp>
        <p:nvSpPr>
          <p:cNvPr id="10" name="row-bg-2">
            <a:extLst xmlns:a="http://schemas.openxmlformats.org/drawingml/2006/main">
              <a:ext uri="{FF2B5EF4-FFF2-40B4-BE49-F238E27FC236}">
                <a16:creationId xmlns:a16="http://schemas.microsoft.com/office/drawing/2014/main" id="{F15DCD1D-EBA4-44E9-BA1B-9E51D46E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aim-2">
            <a:extLst xmlns:a="http://schemas.openxmlformats.org/drawingml/2006/main">
              <a:ext uri="{FF2B5EF4-FFF2-40B4-BE49-F238E27FC236}">
                <a16:creationId xmlns:a16="http://schemas.microsoft.com/office/drawing/2014/main" id="{283291FB-6E14-438A-A569-B162F059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NOT REPORTED</a:t>
            </a:r>
          </a:p>
        </p:txBody>
      </p:sp>
      <p:sp>
        <p:nvSpPr>
          <p:cNvPr id="12" name="test-2">
            <a:extLst xmlns:a="http://schemas.openxmlformats.org/drawingml/2006/main">
              <a:ext uri="{FF2B5EF4-FFF2-40B4-BE49-F238E27FC236}">
                <a16:creationId xmlns:a16="http://schemas.microsoft.com/office/drawing/2014/main" id="{2598D7BF-82AD-49A4-9A12-666A999D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Same-anchor positive control</a:t>
            </a:r>
          </a:p>
        </p:txBody>
      </p:sp>
      <p:sp>
        <p:nvSpPr>
          <p:cNvPr id="13" name="floor-2">
            <a:extLst xmlns:a="http://schemas.openxmlformats.org/drawingml/2006/main">
              <a:ext uri="{FF2B5EF4-FFF2-40B4-BE49-F238E27FC236}">
                <a16:creationId xmlns:a16="http://schemas.microsoft.com/office/drawing/2014/main" id="{0DDFDCCA-91A3-44F3-9802-2FB49E1E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 live readout must succeed nearby</a:t>
            </a:r>
          </a:p>
        </p:txBody>
      </p:sp>
      <p:sp>
        <p:nvSpPr>
          <p:cNvPr id="14" name="claim-3">
            <a:extLst xmlns:a="http://schemas.openxmlformats.org/drawingml/2006/main">
              <a:ext uri="{FF2B5EF4-FFF2-40B4-BE49-F238E27FC236}">
                <a16:creationId xmlns:a16="http://schemas.microsoft.com/office/drawing/2014/main" id="{E7E659AE-9772-479E-9378-F306BD3C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NOT ANTICIPATORY</a:t>
            </a:r>
          </a:p>
        </p:txBody>
      </p:sp>
      <p:sp>
        <p:nvSpPr>
          <p:cNvPr id="15" name="test-3">
            <a:extLst xmlns:a="http://schemas.openxmlformats.org/drawingml/2006/main">
              <a:ext uri="{FF2B5EF4-FFF2-40B4-BE49-F238E27FC236}">
                <a16:creationId xmlns:a16="http://schemas.microsoft.com/office/drawing/2014/main" id="{2D69B51D-4176-4E0B-99B3-F6D13BC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No-model position floor</a:t>
            </a:r>
          </a:p>
        </p:txBody>
      </p:sp>
      <p:sp>
        <p:nvSpPr>
          <p:cNvPr id="16" name="floor-3">
            <a:extLst xmlns:a="http://schemas.openxmlformats.org/drawingml/2006/main">
              <a:ext uri="{FF2B5EF4-FFF2-40B4-BE49-F238E27FC236}">
                <a16:creationId xmlns:a16="http://schemas.microsoft.com/office/drawing/2014/main" id="{309DEE72-1FFD-4CFB-9C51-8328AF6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339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Prediction must beat sequence position alone</a:t>
            </a:r>
          </a:p>
        </p:txBody>
      </p:sp>
      <p:sp>
        <p:nvSpPr>
          <p:cNvPr id="17" name="rule-line">
            <a:extLst xmlns:a="http://schemas.openxmlformats.org/drawingml/2006/main">
              <a:ext uri="{FF2B5EF4-FFF2-40B4-BE49-F238E27FC236}">
                <a16:creationId xmlns:a16="http://schemas.microsoft.com/office/drawing/2014/main" id="{4BE14DB5-D830-4F16-9754-8633E913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null is interpretable only when the instrument works at the same place.</a:t>
            </a:r>
          </a:p>
        </p:txBody>
      </p:sp>
    </p:spTree>
    <p:extLst>
      <p:ext uri="{BB962C8B-B14F-4D97-AF65-F5344CB8AC3E}">
        <p14:creationId xmlns:p14="http://schemas.microsoft.com/office/powerpoint/2010/main" val="14094691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3E94A251-E7A4-4572-AC42-03BAB8C6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Finding 1 — binding is constructed with depth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1685FC3C-264D-4A81-BABB-F5C04A83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a32be966d4b95"/>
          <a:stretch xmlns:a="http://schemas.openxmlformats.org/drawingml/2006/main"/>
        </p:blipFill>
        <p:spPr>
          <a:xfrm xmlns:a="http://schemas.openxmlformats.org/drawingml/2006/main">
            <a:off x="480365" y="1304925"/>
            <a:ext cx="7649869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rule-906-170">
            <a:extLst xmlns:a="http://schemas.openxmlformats.org/drawingml/2006/main">
              <a:ext uri="{FF2B5EF4-FFF2-40B4-BE49-F238E27FC236}">
                <a16:creationId xmlns:a16="http://schemas.microsoft.com/office/drawing/2014/main" id="{A3053E1F-0C36-45F9-99CE-0F9DA7EB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2743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26B"/>
          </a:solidFill>
          <a:ln xmlns:a="http://schemas.openxmlformats.org/drawingml/2006/main" w="0">
            <a:solidFill>
              <a:srgbClr val="5D626B"/>
            </a:solidFill>
            <a:prstDash val="solid"/>
          </a:ln>
        </p:spPr>
      </p:sp>
      <p:sp>
        <p:nvSpPr>
          <p:cNvPr id="5" name="metric-0.500-906">
            <a:extLst xmlns:a="http://schemas.openxmlformats.org/drawingml/2006/main">
              <a:ext uri="{FF2B5EF4-FFF2-40B4-BE49-F238E27FC236}">
                <a16:creationId xmlns:a16="http://schemas.microsoft.com/office/drawing/2014/main" id="{0E776515-EB32-4C41-9B88-AB2BF171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907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0.500</a:t>
            </a:r>
          </a:p>
        </p:txBody>
      </p:sp>
      <p:sp>
        <p:nvSpPr>
          <p:cNvPr id="6" name="metric-label-906-170">
            <a:extLst xmlns:a="http://schemas.openxmlformats.org/drawingml/2006/main">
              <a:ext uri="{FF2B5EF4-FFF2-40B4-BE49-F238E27FC236}">
                <a16:creationId xmlns:a16="http://schemas.microsoft.com/office/drawing/2014/main" id="{7438CD96-16F1-46B2-8F37-806F98E8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6697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Exact surface and embedding floor</a:t>
            </a:r>
          </a:p>
        </p:txBody>
      </p:sp>
      <p:sp>
        <p:nvSpPr>
          <p:cNvPr id="7" name="rule-906-340">
            <a:extLst xmlns:a="http://schemas.openxmlformats.org/drawingml/2006/main">
              <a:ext uri="{FF2B5EF4-FFF2-40B4-BE49-F238E27FC236}">
                <a16:creationId xmlns:a16="http://schemas.microsoft.com/office/drawing/2014/main" id="{91EB7E37-0D6B-44D1-96C0-19133B7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743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metric-0.984-906">
            <a:extLst xmlns:a="http://schemas.openxmlformats.org/drawingml/2006/main">
              <a:ext uri="{FF2B5EF4-FFF2-40B4-BE49-F238E27FC236}">
                <a16:creationId xmlns:a16="http://schemas.microsoft.com/office/drawing/2014/main" id="{19CBB1B1-B0B8-401F-8F43-68C77A4E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09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0.984</a:t>
            </a:r>
          </a:p>
        </p:txBody>
      </p:sp>
      <p:sp>
        <p:nvSpPr>
          <p:cNvPr id="9" name="metric-label-906-340">
            <a:extLst xmlns:a="http://schemas.openxmlformats.org/drawingml/2006/main">
              <a:ext uri="{FF2B5EF4-FFF2-40B4-BE49-F238E27FC236}">
                <a16:creationId xmlns:a16="http://schemas.microsoft.com/office/drawing/2014/main" id="{99702D95-7E76-468D-952C-4E841F3F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862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Peak mid-layer accuracy</a:t>
            </a:r>
          </a:p>
        </p:txBody>
      </p:sp>
      <p:sp>
        <p:nvSpPr>
          <p:cNvPr id="10" name="binding-read">
            <a:extLst xmlns:a="http://schemas.openxmlformats.org/drawingml/2006/main">
              <a:ext uri="{FF2B5EF4-FFF2-40B4-BE49-F238E27FC236}">
                <a16:creationId xmlns:a16="http://schemas.microsoft.com/office/drawing/2014/main" id="{AE5D3437-70EA-4AF4-BF7A-344BD4A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Nothing at input → rapid construction → mild late-layer shedding</a:t>
            </a:r>
          </a:p>
        </p:txBody>
      </p:sp>
    </p:spTree>
    <p:extLst>
      <p:ext uri="{BB962C8B-B14F-4D97-AF65-F5344CB8AC3E}">
        <p14:creationId xmlns:p14="http://schemas.microsoft.com/office/powerpoint/2010/main" val="142958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6">
            <a:extLst xmlns:a="http://schemas.openxmlformats.org/drawingml/2006/main">
              <a:ext uri="{FF2B5EF4-FFF2-40B4-BE49-F238E27FC236}">
                <a16:creationId xmlns:a16="http://schemas.microsoft.com/office/drawing/2014/main" id="{25F0DF00-C8B1-4450-A012-B1BD03F3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pattern generalizes — with one important nuance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3866B636-F9D0-44BC-9C97-FB78564E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h-0">
            <a:extLst xmlns:a="http://schemas.openxmlformats.org/drawingml/2006/main">
              <a:ext uri="{FF2B5EF4-FFF2-40B4-BE49-F238E27FC236}">
                <a16:creationId xmlns:a16="http://schemas.microsoft.com/office/drawing/2014/main" id="{E6BF0DA5-5BB5-4BA3-96AD-0C13044B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RELATION</a:t>
            </a:r>
          </a:p>
        </p:txBody>
      </p:sp>
      <p:sp>
        <p:nvSpPr>
          <p:cNvPr id="4" name="h-1">
            <a:extLst xmlns:a="http://schemas.openxmlformats.org/drawingml/2006/main">
              <a:ext uri="{FF2B5EF4-FFF2-40B4-BE49-F238E27FC236}">
                <a16:creationId xmlns:a16="http://schemas.microsoft.com/office/drawing/2014/main" id="{05A271B4-BA4A-42CF-BFD2-38D45F4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90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CLEANEST FLOOR</a:t>
            </a:r>
          </a:p>
        </p:txBody>
      </p:sp>
      <p:sp>
        <p:nvSpPr>
          <p:cNvPr id="5" name="h-2">
            <a:extLst xmlns:a="http://schemas.openxmlformats.org/drawingml/2006/main">
              <a:ext uri="{FF2B5EF4-FFF2-40B4-BE49-F238E27FC236}">
                <a16:creationId xmlns:a16="http://schemas.microsoft.com/office/drawing/2014/main" id="{4B72F174-C24C-4BBC-9CEA-D353686E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HIDDEN-STATE RESULT</a:t>
            </a:r>
          </a:p>
        </p:txBody>
      </p:sp>
      <p:sp>
        <p:nvSpPr>
          <p:cNvPr id="6" name="h-3">
            <a:extLst xmlns:a="http://schemas.openxmlformats.org/drawingml/2006/main">
              <a:ext uri="{FF2B5EF4-FFF2-40B4-BE49-F238E27FC236}">
                <a16:creationId xmlns:a16="http://schemas.microsoft.com/office/drawing/2014/main" id="{EABFF3CF-6708-48DA-B9C4-EF43FFCF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90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READING</a:t>
            </a:r>
          </a:p>
        </p:txBody>
      </p:sp>
      <p:sp>
        <p:nvSpPr>
          <p:cNvPr id="7" name="rule-42-184">
            <a:extLst xmlns:a="http://schemas.openxmlformats.org/drawingml/2006/main">
              <a:ext uri="{FF2B5EF4-FFF2-40B4-BE49-F238E27FC236}">
                <a16:creationId xmlns:a16="http://schemas.microsoft.com/office/drawing/2014/main" id="{011D762D-E195-43D6-8C9D-EF016A16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ell-0-0">
            <a:extLst xmlns:a="http://schemas.openxmlformats.org/drawingml/2006/main">
              <a:ext uri="{FF2B5EF4-FFF2-40B4-BE49-F238E27FC236}">
                <a16:creationId xmlns:a16="http://schemas.microsoft.com/office/drawing/2014/main" id="{580CDC49-068B-486A-B8D3-A7F3147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Binding</a:t>
            </a:r>
          </a:p>
        </p:txBody>
      </p:sp>
      <p:sp>
        <p:nvSpPr>
          <p:cNvPr id="9" name="cell-0-1">
            <a:extLst xmlns:a="http://schemas.openxmlformats.org/drawingml/2006/main">
              <a:ext uri="{FF2B5EF4-FFF2-40B4-BE49-F238E27FC236}">
                <a16:creationId xmlns:a16="http://schemas.microsoft.com/office/drawing/2014/main" id="{9327CF5F-367A-4ADA-A7F7-677DB819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145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0.500 exact</a:t>
            </a:r>
          </a:p>
        </p:txBody>
      </p:sp>
      <p:sp>
        <p:nvSpPr>
          <p:cNvPr id="10" name="cell-0-2">
            <a:extLst xmlns:a="http://schemas.openxmlformats.org/drawingml/2006/main">
              <a:ext uri="{FF2B5EF4-FFF2-40B4-BE49-F238E27FC236}">
                <a16:creationId xmlns:a16="http://schemas.microsoft.com/office/drawing/2014/main" id="{ACA91250-A3F1-4584-A4CB-B9B749C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0.984 accuracy</a:t>
            </a:r>
          </a:p>
        </p:txBody>
      </p:sp>
      <p:sp>
        <p:nvSpPr>
          <p:cNvPr id="11" name="cell-0-3">
            <a:extLst xmlns:a="http://schemas.openxmlformats.org/drawingml/2006/main">
              <a:ext uri="{FF2B5EF4-FFF2-40B4-BE49-F238E27FC236}">
                <a16:creationId xmlns:a16="http://schemas.microsoft.com/office/drawing/2014/main" id="{5FD7236D-0694-4E06-A066-A28EC67E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Strong semantic evidence</a:t>
            </a:r>
          </a:p>
        </p:txBody>
      </p:sp>
      <p:sp>
        <p:nvSpPr>
          <p:cNvPr id="12" name="rule-42-302">
            <a:extLst xmlns:a="http://schemas.openxmlformats.org/drawingml/2006/main">
              <a:ext uri="{FF2B5EF4-FFF2-40B4-BE49-F238E27FC236}">
                <a16:creationId xmlns:a16="http://schemas.microsoft.com/office/drawing/2014/main" id="{D5CBA0E3-44AF-4CB0-8FA1-DD7C50C6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solidFill>
              <a:srgbClr val="D8DADE"/>
            </a:solidFill>
            <a:prstDash val="solid"/>
          </a:ln>
        </p:spPr>
      </p:sp>
      <p:sp>
        <p:nvSpPr>
          <p:cNvPr id="13" name="cell-1-0">
            <a:extLst xmlns:a="http://schemas.openxmlformats.org/drawingml/2006/main">
              <a:ext uri="{FF2B5EF4-FFF2-40B4-BE49-F238E27FC236}">
                <a16:creationId xmlns:a16="http://schemas.microsoft.com/office/drawing/2014/main" id="{EE6742A1-7BD4-4DCA-BB0E-224E759F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766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Def–use</a:t>
            </a:r>
          </a:p>
        </p:txBody>
      </p:sp>
      <p:sp>
        <p:nvSpPr>
          <p:cNvPr id="14" name="cell-1-1">
            <a:extLst xmlns:a="http://schemas.openxmlformats.org/drawingml/2006/main">
              <a:ext uri="{FF2B5EF4-FFF2-40B4-BE49-F238E27FC236}">
                <a16:creationId xmlns:a16="http://schemas.microsoft.com/office/drawing/2014/main" id="{2ACB5EE1-6FD3-4468-B1E9-37FAB34D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766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Distance-matched</a:t>
            </a:r>
          </a:p>
        </p:txBody>
      </p:sp>
      <p:sp>
        <p:nvSpPr>
          <p:cNvPr id="15" name="cell-1-2">
            <a:extLst xmlns:a="http://schemas.openxmlformats.org/drawingml/2006/main">
              <a:ext uri="{FF2B5EF4-FFF2-40B4-BE49-F238E27FC236}">
                <a16:creationId xmlns:a16="http://schemas.microsoft.com/office/drawing/2014/main" id="{93C39FE8-6728-4F7C-92FD-439BFDD2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≈0.99 accuracy</a:t>
            </a:r>
          </a:p>
        </p:txBody>
      </p:sp>
      <p:sp>
        <p:nvSpPr>
          <p:cNvPr id="16" name="cell-1-3">
            <a:extLst xmlns:a="http://schemas.openxmlformats.org/drawingml/2006/main">
              <a:ext uri="{FF2B5EF4-FFF2-40B4-BE49-F238E27FC236}">
                <a16:creationId xmlns:a16="http://schemas.microsoft.com/office/drawing/2014/main" id="{C75A3850-DACC-4368-BBD8-B4CC918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766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Mild distance decay</a:t>
            </a:r>
          </a:p>
        </p:txBody>
      </p:sp>
      <p:sp>
        <p:nvSpPr>
          <p:cNvPr id="17" name="rule-42-424">
            <a:extLst xmlns:a="http://schemas.openxmlformats.org/drawingml/2006/main">
              <a:ext uri="{FF2B5EF4-FFF2-40B4-BE49-F238E27FC236}">
                <a16:creationId xmlns:a16="http://schemas.microsoft.com/office/drawing/2014/main" id="{771AAF3D-4AAA-4565-BEB7-29C185B9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solidFill>
              <a:srgbClr val="D8DADE"/>
            </a:solidFill>
            <a:prstDash val="solid"/>
          </a:ln>
        </p:spPr>
      </p:sp>
      <p:sp>
        <p:nvSpPr>
          <p:cNvPr id="18" name="nuance">
            <a:extLst xmlns:a="http://schemas.openxmlformats.org/drawingml/2006/main">
              <a:ext uri="{FF2B5EF4-FFF2-40B4-BE49-F238E27FC236}">
                <a16:creationId xmlns:a16="http://schemas.microsoft.com/office/drawing/2014/main" id="{E57205CD-1926-4CD3-A713-2C8BF69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3BD82084-7925-46DC-9F7C-B69EB668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386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 dependence</a:t>
            </a:r>
          </a:p>
        </p:txBody>
      </p:sp>
      <p:sp>
        <p:nvSpPr>
          <p:cNvPr id="20" name="cell-2-1">
            <a:extLst xmlns:a="http://schemas.openxmlformats.org/drawingml/2006/main">
              <a:ext uri="{FF2B5EF4-FFF2-40B4-BE49-F238E27FC236}">
                <a16:creationId xmlns:a16="http://schemas.microsoft.com/office/drawing/2014/main" id="{9E6137E3-2349-4DA9-9817-899396C1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38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Surface acc. 0.927</a:t>
            </a:r>
          </a:p>
        </p:txBody>
      </p:sp>
      <p:sp>
        <p:nvSpPr>
          <p:cNvPr id="21" name="cell-2-2">
            <a:extLst xmlns:a="http://schemas.openxmlformats.org/drawingml/2006/main">
              <a:ext uri="{FF2B5EF4-FFF2-40B4-BE49-F238E27FC236}">
                <a16:creationId xmlns:a16="http://schemas.microsoft.com/office/drawing/2014/main" id="{0297F145-D10A-4778-89CE-245CA964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AUC 0.999</a:t>
            </a:r>
          </a:p>
        </p:txBody>
      </p:sp>
      <p:sp>
        <p:nvSpPr>
          <p:cNvPr id="22" name="cell-2-3">
            <a:extLst xmlns:a="http://schemas.openxmlformats.org/drawingml/2006/main">
              <a:ext uri="{FF2B5EF4-FFF2-40B4-BE49-F238E27FC236}">
                <a16:creationId xmlns:a16="http://schemas.microsoft.com/office/drawing/2014/main" id="{90BBD22A-9041-4CD0-A2B5-3063047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38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Positive, but surface-heavy</a:t>
            </a:r>
          </a:p>
        </p:txBody>
      </p:sp>
      <p:sp>
        <p:nvSpPr>
          <p:cNvPr id="23" name="rule-42-546">
            <a:extLst xmlns:a="http://schemas.openxmlformats.org/drawingml/2006/main">
              <a:ext uri="{FF2B5EF4-FFF2-40B4-BE49-F238E27FC236}">
                <a16:creationId xmlns:a16="http://schemas.microsoft.com/office/drawing/2014/main" id="{FDCA2E80-F87F-403E-A82D-3038A67C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E"/>
          </a:solidFill>
          <a:ln xmlns:a="http://schemas.openxmlformats.org/drawingml/2006/main" w="0">
            <a:solidFill>
              <a:srgbClr val="D8DADE"/>
            </a:solidFill>
            <a:prstDash val="solid"/>
          </a:ln>
        </p:spPr>
      </p:sp>
      <p:sp>
        <p:nvSpPr>
          <p:cNvPr id="24" name="nuance-note">
            <a:extLst xmlns:a="http://schemas.openxmlformats.org/drawingml/2006/main">
              <a:ext uri="{FF2B5EF4-FFF2-40B4-BE49-F238E27FC236}">
                <a16:creationId xmlns:a16="http://schemas.microsoft.com/office/drawing/2014/main" id="{9A974422-45A6-4A91-8388-8E6038FE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 dependence is encoded, but local syntax already explains much of it.</a:t>
            </a:r>
          </a:p>
        </p:txBody>
      </p:sp>
    </p:spTree>
    <p:extLst>
      <p:ext uri="{BB962C8B-B14F-4D97-AF65-F5344CB8AC3E}">
        <p14:creationId xmlns:p14="http://schemas.microsoft.com/office/powerpoint/2010/main" val="884292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7">
            <a:extLst xmlns:a="http://schemas.openxmlformats.org/drawingml/2006/main">
              <a:ext uri="{FF2B5EF4-FFF2-40B4-BE49-F238E27FC236}">
                <a16:creationId xmlns:a16="http://schemas.microsoft.com/office/drawing/2014/main" id="{19A0724D-3CE0-4B6A-92E2-C48DDD65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Length is cheap; semantic interference is expensive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545E1C6A-68C2-4ADC-8128-611F30BD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00a6a5c6e4f35"/>
          <a:stretch xmlns:a="http://schemas.openxmlformats.org/drawingml/2006/main"/>
        </p:blipFill>
        <p:spPr>
          <a:xfrm xmlns:a="http://schemas.openxmlformats.org/drawingml/2006/main">
            <a:off x="480365" y="1304925"/>
            <a:ext cx="7649869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rule-908-166">
            <a:extLst xmlns:a="http://schemas.openxmlformats.org/drawingml/2006/main">
              <a:ext uri="{FF2B5EF4-FFF2-40B4-BE49-F238E27FC236}">
                <a16:creationId xmlns:a16="http://schemas.microsoft.com/office/drawing/2014/main" id="{9B78025B-C9FC-40AE-98B2-17AF8E83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2"/>
          </a:solidFill>
          <a:ln xmlns:a="http://schemas.openxmlformats.org/drawingml/2006/main" w="0">
            <a:solidFill>
              <a:srgbClr val="2E8B72"/>
            </a:solidFill>
            <a:prstDash val="solid"/>
          </a:ln>
        </p:spPr>
      </p:sp>
      <p:sp>
        <p:nvSpPr>
          <p:cNvPr id="5" name="metric-0.921-908">
            <a:extLst xmlns:a="http://schemas.openxmlformats.org/drawingml/2006/main">
              <a:ext uri="{FF2B5EF4-FFF2-40B4-BE49-F238E27FC236}">
                <a16:creationId xmlns:a16="http://schemas.microsoft.com/office/drawing/2014/main" id="{0E43A529-28D6-4180-91F5-808B7AEF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rPr>
              <a:t>0.921</a:t>
            </a:r>
          </a:p>
        </p:txBody>
      </p:sp>
      <p:sp>
        <p:nvSpPr>
          <p:cNvPr id="6" name="metric-label-908-166">
            <a:extLst xmlns:a="http://schemas.openxmlformats.org/drawingml/2006/main">
              <a:ext uri="{FF2B5EF4-FFF2-40B4-BE49-F238E27FC236}">
                <a16:creationId xmlns:a16="http://schemas.microsoft.com/office/drawing/2014/main" id="{9A91218E-6B18-4FD5-A2C8-77E99D75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2887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500 inert comment tokens</a:t>
            </a:r>
          </a:p>
        </p:txBody>
      </p:sp>
      <p:sp>
        <p:nvSpPr>
          <p:cNvPr id="7" name="rule-908-332">
            <a:extLst xmlns:a="http://schemas.openxmlformats.org/drawingml/2006/main">
              <a:ext uri="{FF2B5EF4-FFF2-40B4-BE49-F238E27FC236}">
                <a16:creationId xmlns:a16="http://schemas.microsoft.com/office/drawing/2014/main" id="{7F8DDFCE-E8DD-4F7B-9836-707FF66B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63"/>
          </a:solidFill>
          <a:ln xmlns:a="http://schemas.openxmlformats.org/drawingml/2006/main" w="0">
            <a:solidFill>
              <a:srgbClr val="D85B63"/>
            </a:solidFill>
            <a:prstDash val="solid"/>
          </a:ln>
        </p:spPr>
      </p:sp>
      <p:sp>
        <p:nvSpPr>
          <p:cNvPr id="8" name="metric-0.570-908">
            <a:extLst xmlns:a="http://schemas.openxmlformats.org/drawingml/2006/main">
              <a:ext uri="{FF2B5EF4-FFF2-40B4-BE49-F238E27FC236}">
                <a16:creationId xmlns:a16="http://schemas.microsoft.com/office/drawing/2014/main" id="{E5928456-070C-4330-9655-1052BE72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rPr>
              <a:t>0.570</a:t>
            </a:r>
          </a:p>
        </p:txBody>
      </p:sp>
      <p:sp>
        <p:nvSpPr>
          <p:cNvPr id="9" name="metric-label-908-332">
            <a:extLst xmlns:a="http://schemas.openxmlformats.org/drawingml/2006/main">
              <a:ext uri="{FF2B5EF4-FFF2-40B4-BE49-F238E27FC236}">
                <a16:creationId xmlns:a16="http://schemas.microsoft.com/office/drawing/2014/main" id="{FACECC85-C361-492A-9A47-BDFA785B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1002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500 scope-shadow tokens</a:t>
            </a:r>
          </a:p>
        </p:txBody>
      </p:sp>
      <p:sp>
        <p:nvSpPr>
          <p:cNvPr id="10" name="context-read">
            <a:extLst xmlns:a="http://schemas.openxmlformats.org/drawingml/2006/main">
              <a:ext uri="{FF2B5EF4-FFF2-40B4-BE49-F238E27FC236}">
                <a16:creationId xmlns:a16="http://schemas.microsoft.com/office/drawing/2014/main" id="{0CE2D075-DF09-46C6-B0AF-04FBCC7D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0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5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At 1,000 tokens, scope shadow reaches chance (0.498). The failure is scope resolution, not context length alone.</a:t>
            </a:r>
          </a:p>
        </p:txBody>
      </p:sp>
    </p:spTree>
    <p:extLst>
      <p:ext uri="{BB962C8B-B14F-4D97-AF65-F5344CB8AC3E}">
        <p14:creationId xmlns:p14="http://schemas.microsoft.com/office/powerpoint/2010/main" val="15485162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9B5BCDF3-2ABF-48FD-B70D-515374FB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9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representation survives renaming, not structural damage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A64057F9-136F-4B31-9BD8-385432A0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8288030bf4f6a"/>
          <a:stretch xmlns:a="http://schemas.openxmlformats.org/drawingml/2006/main"/>
        </p:blipFill>
        <p:spPr>
          <a:xfrm xmlns:a="http://schemas.openxmlformats.org/drawingml/2006/main">
            <a:off x="715201" y="1304925"/>
            <a:ext cx="7180198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rule-908-166">
            <a:extLst xmlns:a="http://schemas.openxmlformats.org/drawingml/2006/main">
              <a:ext uri="{FF2B5EF4-FFF2-40B4-BE49-F238E27FC236}">
                <a16:creationId xmlns:a16="http://schemas.microsoft.com/office/drawing/2014/main" id="{FB2BAE0A-CD57-4C83-AD81-DC2AC9C9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metric-≈0.85–0.90-908">
            <a:extLst xmlns:a="http://schemas.openxmlformats.org/drawingml/2006/main">
              <a:ext uri="{FF2B5EF4-FFF2-40B4-BE49-F238E27FC236}">
                <a16:creationId xmlns:a16="http://schemas.microsoft.com/office/drawing/2014/main" id="{36B6AEFF-1D44-4A0A-BD76-20AD6858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≈0.85–0.90</a:t>
            </a:r>
          </a:p>
        </p:txBody>
      </p:sp>
      <p:sp>
        <p:nvSpPr>
          <p:cNvPr id="6" name="metric-label-908-166">
            <a:extLst xmlns:a="http://schemas.openxmlformats.org/drawingml/2006/main">
              <a:ext uri="{FF2B5EF4-FFF2-40B4-BE49-F238E27FC236}">
                <a16:creationId xmlns:a16="http://schemas.microsoft.com/office/drawing/2014/main" id="{15363FBF-29B9-4BBA-8CC5-4F523107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2887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Mid-layer accuracy after identifier renaming</a:t>
            </a:r>
          </a:p>
        </p:txBody>
      </p:sp>
      <p:sp>
        <p:nvSpPr>
          <p:cNvPr id="7" name="rule-908-342">
            <a:extLst xmlns:a="http://schemas.openxmlformats.org/drawingml/2006/main">
              <a:ext uri="{FF2B5EF4-FFF2-40B4-BE49-F238E27FC236}">
                <a16:creationId xmlns:a16="http://schemas.microsoft.com/office/drawing/2014/main" id="{23FA38EF-FB36-407B-BCBA-CAA7982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5755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63"/>
          </a:solidFill>
          <a:ln xmlns:a="http://schemas.openxmlformats.org/drawingml/2006/main" w="0">
            <a:solidFill>
              <a:srgbClr val="D85B63"/>
            </a:solidFill>
            <a:prstDash val="solid"/>
          </a:ln>
        </p:spPr>
      </p:sp>
      <p:sp>
        <p:nvSpPr>
          <p:cNvPr id="8" name="metric-≈0.75-908">
            <a:extLst xmlns:a="http://schemas.openxmlformats.org/drawingml/2006/main">
              <a:ext uri="{FF2B5EF4-FFF2-40B4-BE49-F238E27FC236}">
                <a16:creationId xmlns:a16="http://schemas.microsoft.com/office/drawing/2014/main" id="{86764924-054F-4EFB-841B-C9C8DAFA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rPr>
              <a:t>≈0.75</a:t>
            </a:r>
          </a:p>
        </p:txBody>
      </p:sp>
      <p:sp>
        <p:nvSpPr>
          <p:cNvPr id="9" name="metric-label-908-342">
            <a:extLst xmlns:a="http://schemas.openxmlformats.org/drawingml/2006/main">
              <a:ext uri="{FF2B5EF4-FFF2-40B4-BE49-F238E27FC236}">
                <a16:creationId xmlns:a16="http://schemas.microsoft.com/office/drawing/2014/main" id="{39721A52-1442-430B-9FFA-9B1D9CB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0527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Best layer after control-flow flattening</a:t>
            </a:r>
          </a:p>
        </p:txBody>
      </p:sp>
      <p:sp>
        <p:nvSpPr>
          <p:cNvPr id="10" name="obf-read">
            <a:extLst xmlns:a="http://schemas.openxmlformats.org/drawingml/2006/main">
              <a:ext uri="{FF2B5EF4-FFF2-40B4-BE49-F238E27FC236}">
                <a16:creationId xmlns:a16="http://schemas.microsoft.com/office/drawing/2014/main" id="{AFA42836-D704-4E48-A12D-571E65E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101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Names can change without erasing the relation. Rewriting the program structure is much harder.</a:t>
            </a:r>
          </a:p>
        </p:txBody>
      </p:sp>
    </p:spTree>
    <p:extLst>
      <p:ext uri="{BB962C8B-B14F-4D97-AF65-F5344CB8AC3E}">
        <p14:creationId xmlns:p14="http://schemas.microsoft.com/office/powerpoint/2010/main" val="5173101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080CC3D7-1908-4A2E-869F-F0B00B8A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Finding 2 — semantic information is causally routed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2F2A2772-C579-45E1-8BBF-12C949C9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c3cb2af714444"/>
          <a:stretch xmlns:a="http://schemas.openxmlformats.org/drawingml/2006/main"/>
        </p:blipFill>
        <p:spPr>
          <a:xfrm xmlns:a="http://schemas.openxmlformats.org/drawingml/2006/main">
            <a:off x="400050" y="1845428"/>
            <a:ext cx="7524750" cy="3681494"/>
          </a:xfrm>
          <a:prstGeom xmlns:a="http://schemas.openxmlformats.org/drawingml/2006/main" prst="rect">
            <a:avLst/>
          </a:prstGeom>
        </p:spPr>
      </p:pic>
      <p:sp>
        <p:nvSpPr>
          <p:cNvPr id="4" name="patch-step1">
            <a:extLst xmlns:a="http://schemas.openxmlformats.org/drawingml/2006/main">
              <a:ext uri="{FF2B5EF4-FFF2-40B4-BE49-F238E27FC236}">
                <a16:creationId xmlns:a16="http://schemas.microsoft.com/office/drawing/2014/main" id="{B7BC65D1-3E2A-4F90-A234-3307CBAE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EARLY</a:t>
            </a:r>
          </a:p>
        </p:txBody>
      </p:sp>
      <p:sp>
        <p:nvSpPr>
          <p:cNvPr id="5" name="patch1">
            <a:extLst xmlns:a="http://schemas.openxmlformats.org/drawingml/2006/main">
              <a:ext uri="{FF2B5EF4-FFF2-40B4-BE49-F238E27FC236}">
                <a16:creationId xmlns:a16="http://schemas.microsoft.com/office/drawing/2014/main" id="{8AAB4EB3-1C2A-4C23-BA08-8A51015D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sink argument</a:t>
            </a:r>
          </a:p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L0 ≈ 0.99</a:t>
            </a:r>
          </a:p>
        </p:txBody>
      </p:sp>
      <p:sp>
        <p:nvSpPr>
          <p:cNvPr id="6" name="rule-880-312">
            <a:extLst xmlns:a="http://schemas.openxmlformats.org/drawingml/2006/main">
              <a:ext uri="{FF2B5EF4-FFF2-40B4-BE49-F238E27FC236}">
                <a16:creationId xmlns:a16="http://schemas.microsoft.com/office/drawing/2014/main" id="{3652402F-1D7F-462C-A086-CE66E584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patch-step2">
            <a:extLst xmlns:a="http://schemas.openxmlformats.org/drawingml/2006/main">
              <a:ext uri="{FF2B5EF4-FFF2-40B4-BE49-F238E27FC236}">
                <a16:creationId xmlns:a16="http://schemas.microsoft.com/office/drawing/2014/main" id="{BC372F96-7377-4239-A7A7-C0B16F93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LATE</a:t>
            </a:r>
          </a:p>
        </p:txBody>
      </p:sp>
      <p:sp>
        <p:nvSpPr>
          <p:cNvPr id="8" name="patch2">
            <a:extLst xmlns:a="http://schemas.openxmlformats.org/drawingml/2006/main">
              <a:ext uri="{FF2B5EF4-FFF2-40B4-BE49-F238E27FC236}">
                <a16:creationId xmlns:a16="http://schemas.microsoft.com/office/drawing/2014/main" id="{78BF23BC-32EE-470A-B138-7035DC67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final position</a:t>
            </a:r>
          </a:p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L31 = 1.00</a:t>
            </a:r>
          </a:p>
        </p:txBody>
      </p:sp>
      <p:sp>
        <p:nvSpPr>
          <p:cNvPr id="9" name="zero-box">
            <a:extLst xmlns:a="http://schemas.openxmlformats.org/drawingml/2006/main">
              <a:ext uri="{FF2B5EF4-FFF2-40B4-BE49-F238E27FC236}">
                <a16:creationId xmlns:a16="http://schemas.microsoft.com/office/drawing/2014/main" id="{7D81F82D-7E3D-451B-A79D-47FA974C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3181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zero">
            <a:extLst xmlns:a="http://schemas.openxmlformats.org/drawingml/2006/main">
              <a:ext uri="{FF2B5EF4-FFF2-40B4-BE49-F238E27FC236}">
                <a16:creationId xmlns:a16="http://schemas.microsoft.com/office/drawing/2014/main" id="{DE02C373-A4D8-423B-A7EF-A738DA2C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rPr>
              <a:t>sanitizer definition</a:t>
            </a:r>
          </a:p>
          <a:p xmlns:a="http://schemas.openxmlformats.org/drawingml/2006/main">
            <a:pPr algn="l">
              <a:defRPr sz="1575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rPr>
              <a:t>0.000 recovery at every layer</a:t>
            </a:r>
          </a:p>
        </p:txBody>
      </p:sp>
    </p:spTree>
    <p:extLst>
      <p:ext uri="{BB962C8B-B14F-4D97-AF65-F5344CB8AC3E}">
        <p14:creationId xmlns:p14="http://schemas.microsoft.com/office/powerpoint/2010/main" val="4690676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0">
            <a:extLst xmlns:a="http://schemas.openxmlformats.org/drawingml/2006/main">
              <a:ext uri="{FF2B5EF4-FFF2-40B4-BE49-F238E27FC236}">
                <a16:creationId xmlns:a16="http://schemas.microsoft.com/office/drawing/2014/main" id="{20759E2C-99B4-461B-AA99-ADDD55F1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Correct state, wrong answer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84CA2C98-8B60-4E29-AD48-62249768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e6-head">
            <a:extLst xmlns:a="http://schemas.openxmlformats.org/drawingml/2006/main">
              <a:ext uri="{FF2B5EF4-FFF2-40B4-BE49-F238E27FC236}">
                <a16:creationId xmlns:a16="http://schemas.microsoft.com/office/drawing/2014/main" id="{20B64A9F-8D45-43E3-9B9D-F9712744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 probe degradation warn us before behavioral failure?</a:t>
            </a:r>
          </a:p>
        </p:txBody>
      </p:sp>
      <p:sp>
        <p:nvSpPr>
          <p:cNvPr id="4" name="e6-bg">
            <a:extLst xmlns:a="http://schemas.openxmlformats.org/drawingml/2006/main">
              <a:ext uri="{FF2B5EF4-FFF2-40B4-BE49-F238E27FC236}">
                <a16:creationId xmlns:a16="http://schemas.microsoft.com/office/drawing/2014/main" id="{AA8D615B-B481-4F01-8AFF-552EDBA1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1391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78-254">
            <a:extLst xmlns:a="http://schemas.openxmlformats.org/drawingml/2006/main">
              <a:ext uri="{FF2B5EF4-FFF2-40B4-BE49-F238E27FC236}">
                <a16:creationId xmlns:a16="http://schemas.microsoft.com/office/drawing/2014/main" id="{04C6F95F-07AC-4876-AFD3-47953022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2"/>
          </a:solidFill>
          <a:ln xmlns:a="http://schemas.openxmlformats.org/drawingml/2006/main" w="0">
            <a:solidFill>
              <a:srgbClr val="2E8B72"/>
            </a:solidFill>
            <a:prstDash val="solid"/>
          </a:ln>
        </p:spPr>
      </p:sp>
      <p:sp>
        <p:nvSpPr>
          <p:cNvPr id="6" name="metric-≈99%-78">
            <a:extLst xmlns:a="http://schemas.openxmlformats.org/drawingml/2006/main">
              <a:ext uri="{FF2B5EF4-FFF2-40B4-BE49-F238E27FC236}">
                <a16:creationId xmlns:a16="http://schemas.microsoft.com/office/drawing/2014/main" id="{FED78AB0-1BE9-461C-874C-C46FBD9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rPr>
              <a:t>≈99%</a:t>
            </a:r>
          </a:p>
        </p:txBody>
      </p:sp>
      <p:sp>
        <p:nvSpPr>
          <p:cNvPr id="7" name="metric-label-78-254">
            <a:extLst xmlns:a="http://schemas.openxmlformats.org/drawingml/2006/main">
              <a:ext uri="{FF2B5EF4-FFF2-40B4-BE49-F238E27FC236}">
                <a16:creationId xmlns:a16="http://schemas.microsoft.com/office/drawing/2014/main" id="{B4E32ED8-069B-4905-BECA-3913C71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Per-prefix taint-probe accuracy</a:t>
            </a:r>
          </a:p>
        </p:txBody>
      </p:sp>
      <p:sp>
        <p:nvSpPr>
          <p:cNvPr id="8" name="rule-454-254">
            <a:extLst xmlns:a="http://schemas.openxmlformats.org/drawingml/2006/main">
              <a:ext uri="{FF2B5EF4-FFF2-40B4-BE49-F238E27FC236}">
                <a16:creationId xmlns:a16="http://schemas.microsoft.com/office/drawing/2014/main" id="{65714413-957B-4322-AC49-23C6FD1B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193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metric-19 / 19-454">
            <a:extLst xmlns:a="http://schemas.openxmlformats.org/drawingml/2006/main">
              <a:ext uri="{FF2B5EF4-FFF2-40B4-BE49-F238E27FC236}">
                <a16:creationId xmlns:a16="http://schemas.microsoft.com/office/drawing/2014/main" id="{7825D839-54C4-4F53-BF5D-6F1C357A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 / 19</a:t>
            </a:r>
          </a:p>
        </p:txBody>
      </p:sp>
      <p:sp>
        <p:nvSpPr>
          <p:cNvPr id="10" name="metric-label-454-254">
            <a:extLst xmlns:a="http://schemas.openxmlformats.org/drawingml/2006/main">
              <a:ext uri="{FF2B5EF4-FFF2-40B4-BE49-F238E27FC236}">
                <a16:creationId xmlns:a16="http://schemas.microsoft.com/office/drawing/2014/main" id="{3BA45034-6E5B-4305-B202-AE3101EA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70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Model-wrong examples with correct probe state</a:t>
            </a:r>
          </a:p>
        </p:txBody>
      </p:sp>
      <p:sp>
        <p:nvSpPr>
          <p:cNvPr id="11" name="rule-830-254">
            <a:extLst xmlns:a="http://schemas.openxmlformats.org/drawingml/2006/main">
              <a:ext uri="{FF2B5EF4-FFF2-40B4-BE49-F238E27FC236}">
                <a16:creationId xmlns:a16="http://schemas.microsoft.com/office/drawing/2014/main" id="{FE48D07D-79F8-4E93-989A-E1DF218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63"/>
          </a:solidFill>
          <a:ln xmlns:a="http://schemas.openxmlformats.org/drawingml/2006/main" w="0">
            <a:solidFill>
              <a:srgbClr val="D85B63"/>
            </a:solidFill>
            <a:prstDash val="solid"/>
          </a:ln>
        </p:spPr>
      </p:sp>
      <p:sp>
        <p:nvSpPr>
          <p:cNvPr id="12" name="metric-−0.010-830">
            <a:extLst xmlns:a="http://schemas.openxmlformats.org/drawingml/2006/main">
              <a:ext uri="{FF2B5EF4-FFF2-40B4-BE49-F238E27FC236}">
                <a16:creationId xmlns:a16="http://schemas.microsoft.com/office/drawing/2014/main" id="{F7D1ED21-5467-432D-A905-6A956DB3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rPr>
              <a:t>−0.010</a:t>
            </a:r>
          </a:p>
        </p:txBody>
      </p:sp>
      <p:sp>
        <p:nvSpPr>
          <p:cNvPr id="13" name="metric-label-830-254">
            <a:extLst xmlns:a="http://schemas.openxmlformats.org/drawingml/2006/main">
              <a:ext uri="{FF2B5EF4-FFF2-40B4-BE49-F238E27FC236}">
                <a16:creationId xmlns:a16="http://schemas.microsoft.com/office/drawing/2014/main" id="{18EF197A-3D8F-43C2-B1C2-B57D70BA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670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Probe excess over analytic null</a:t>
            </a:r>
          </a:p>
        </p:txBody>
      </p:sp>
      <p:sp>
        <p:nvSpPr>
          <p:cNvPr id="14" name="e6-floor">
            <a:extLst xmlns:a="http://schemas.openxmlformats.org/drawingml/2006/main">
              <a:ext uri="{FF2B5EF4-FFF2-40B4-BE49-F238E27FC236}">
                <a16:creationId xmlns:a16="http://schemas.microsoft.com/office/drawing/2014/main" id="{09A2149C-8CB3-48F2-8D30-F4A13E91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readout using no model at all scores +0.113 from position alone.</a:t>
            </a:r>
          </a:p>
        </p:txBody>
      </p:sp>
      <p:sp>
        <p:nvSpPr>
          <p:cNvPr id="15" name="e6-conclusion">
            <a:extLst xmlns:a="http://schemas.openxmlformats.org/drawingml/2006/main">
              <a:ext uri="{FF2B5EF4-FFF2-40B4-BE49-F238E27FC236}">
                <a16:creationId xmlns:a16="http://schemas.microsoft.com/office/drawing/2014/main" id="{25C7686F-BD99-46B3-8BC4-B9F05B6A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Conclusion: no anticipatory degradation survives the floor.</a:t>
            </a:r>
          </a:p>
        </p:txBody>
      </p:sp>
      <p:sp>
        <p:nvSpPr>
          <p:cNvPr id="16" name="e6-caveat">
            <a:extLst xmlns:a="http://schemas.openxmlformats.org/drawingml/2006/main">
              <a:ext uri="{FF2B5EF4-FFF2-40B4-BE49-F238E27FC236}">
                <a16:creationId xmlns:a16="http://schemas.microsoft.com/office/drawing/2014/main" id="{3F42614D-555B-4548-A34B-6C6A517E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1.3B behavior is at chance (balanced accuracy 0.471), so its lead time is undefined.</a:t>
            </a:r>
          </a:p>
        </p:txBody>
      </p:sp>
    </p:spTree>
    <p:extLst>
      <p:ext uri="{BB962C8B-B14F-4D97-AF65-F5344CB8AC3E}">
        <p14:creationId xmlns:p14="http://schemas.microsoft.com/office/powerpoint/2010/main" val="984192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1">
            <a:extLst xmlns:a="http://schemas.openxmlformats.org/drawingml/2006/main">
              <a:ext uri="{FF2B5EF4-FFF2-40B4-BE49-F238E27FC236}">
                <a16:creationId xmlns:a16="http://schemas.microsoft.com/office/drawing/2014/main" id="{685E07A0-DB41-41ED-8E55-DED12058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9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stronger question: can the model itself read the state out?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2269F046-4051-470D-988D-52F55FF4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jlens-def">
            <a:extLst xmlns:a="http://schemas.openxmlformats.org/drawingml/2006/main">
              <a:ext uri="{FF2B5EF4-FFF2-40B4-BE49-F238E27FC236}">
                <a16:creationId xmlns:a16="http://schemas.microsoft.com/office/drawing/2014/main" id="{5E1B7EFC-3482-47F0-928B-C517EC46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Jacobian lens asks which token the model is locally disposed to produce — not what a trained probe can recover.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110066e8c45ea"/>
          <a:stretch xmlns:a="http://schemas.openxmlformats.org/drawingml/2006/main"/>
        </p:blipFill>
        <p:spPr>
          <a:xfrm xmlns:a="http://schemas.openxmlformats.org/drawingml/2006/main">
            <a:off x="769102" y="2133600"/>
            <a:ext cx="6119895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rule-818-238">
            <a:extLst xmlns:a="http://schemas.openxmlformats.org/drawingml/2006/main">
              <a:ext uri="{FF2B5EF4-FFF2-40B4-BE49-F238E27FC236}">
                <a16:creationId xmlns:a16="http://schemas.microsoft.com/office/drawing/2014/main" id="{81928002-7624-4647-BEEA-997A186B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2"/>
          </a:solidFill>
          <a:ln xmlns:a="http://schemas.openxmlformats.org/drawingml/2006/main" w="0">
            <a:solidFill>
              <a:srgbClr val="2E8B72"/>
            </a:solidFill>
            <a:prstDash val="solid"/>
          </a:ln>
        </p:spPr>
      </p:sp>
      <p:sp>
        <p:nvSpPr>
          <p:cNvPr id="6" name="metric-1.0000-818">
            <a:extLst xmlns:a="http://schemas.openxmlformats.org/drawingml/2006/main">
              <a:ext uri="{FF2B5EF4-FFF2-40B4-BE49-F238E27FC236}">
                <a16:creationId xmlns:a16="http://schemas.microsoft.com/office/drawing/2014/main" id="{01080F75-8296-43E0-BD8F-C4F2C078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384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rPr>
              <a:t>1.0000</a:t>
            </a:r>
          </a:p>
        </p:txBody>
      </p:sp>
      <p:sp>
        <p:nvSpPr>
          <p:cNvPr id="7" name="metric-label-818-238">
            <a:extLst xmlns:a="http://schemas.openxmlformats.org/drawingml/2006/main">
              <a:ext uri="{FF2B5EF4-FFF2-40B4-BE49-F238E27FC236}">
                <a16:creationId xmlns:a16="http://schemas.microsoft.com/office/drawing/2014/main" id="{EC9A529C-23FE-4E16-BBEC-5D89347A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1467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Final-layer identity cosine</a:t>
            </a:r>
          </a:p>
        </p:txBody>
      </p:sp>
      <p:sp>
        <p:nvSpPr>
          <p:cNvPr id="8" name="rule-818-398">
            <a:extLst xmlns:a="http://schemas.openxmlformats.org/drawingml/2006/main">
              <a:ext uri="{FF2B5EF4-FFF2-40B4-BE49-F238E27FC236}">
                <a16:creationId xmlns:a16="http://schemas.microsoft.com/office/drawing/2014/main" id="{A848EC8D-3499-4935-B1A4-342E0889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metric-0.650-818">
            <a:extLst xmlns:a="http://schemas.openxmlformats.org/drawingml/2006/main">
              <a:ext uri="{FF2B5EF4-FFF2-40B4-BE49-F238E27FC236}">
                <a16:creationId xmlns:a16="http://schemas.microsoft.com/office/drawing/2014/main" id="{ABAB2C94-4210-4BD3-8A53-53637A1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624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0.650</a:t>
            </a:r>
          </a:p>
        </p:txBody>
      </p:sp>
      <p:sp>
        <p:nvSpPr>
          <p:cNvPr id="10" name="metric-label-818-398">
            <a:extLst xmlns:a="http://schemas.openxmlformats.org/drawingml/2006/main">
              <a:ext uri="{FF2B5EF4-FFF2-40B4-BE49-F238E27FC236}">
                <a16:creationId xmlns:a16="http://schemas.microsoft.com/office/drawing/2014/main" id="{2DB47001-3096-4B8F-8E64-F2573C0F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3867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Next-token top-1 at L27</a:t>
            </a:r>
          </a:p>
        </p:txBody>
      </p:sp>
      <p:sp>
        <p:nvSpPr>
          <p:cNvPr id="11" name="jlens-random">
            <a:extLst xmlns:a="http://schemas.openxmlformats.org/drawingml/2006/main">
              <a:ext uri="{FF2B5EF4-FFF2-40B4-BE49-F238E27FC236}">
                <a16:creationId xmlns:a16="http://schemas.microsoft.com/office/drawing/2014/main" id="{AC278A71-A4B5-4037-B41B-7052C3EF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768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Random directions: ≤ 0.050</a:t>
            </a:r>
          </a:p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Advantage over logit lens: +0.183</a:t>
            </a:r>
          </a:p>
        </p:txBody>
      </p:sp>
    </p:spTree>
    <p:extLst>
      <p:ext uri="{BB962C8B-B14F-4D97-AF65-F5344CB8AC3E}">
        <p14:creationId xmlns:p14="http://schemas.microsoft.com/office/powerpoint/2010/main" val="16621256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2">
            <a:extLst xmlns:a="http://schemas.openxmlformats.org/drawingml/2006/main">
              <a:ext uri="{FF2B5EF4-FFF2-40B4-BE49-F238E27FC236}">
                <a16:creationId xmlns:a16="http://schemas.microsoft.com/office/drawing/2014/main" id="{777681CC-A9E3-403F-B6B9-FE26F870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Finding 4 — decodable does not mean reportable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F34E5620-E0EA-4857-B166-AAB92785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018ffb0d245ad"/>
          <a:stretch xmlns:a="http://schemas.openxmlformats.org/drawingml/2006/main"/>
        </p:blipFill>
        <p:spPr>
          <a:xfrm xmlns:a="http://schemas.openxmlformats.org/drawingml/2006/main">
            <a:off x="400050" y="1314223"/>
            <a:ext cx="7620000" cy="4743905"/>
          </a:xfrm>
          <a:prstGeom xmlns:a="http://schemas.openxmlformats.org/drawingml/2006/main" prst="rect">
            <a:avLst/>
          </a:prstGeom>
        </p:spPr>
      </p:pic>
      <p:sp>
        <p:nvSpPr>
          <p:cNvPr id="4" name="rule-882-158">
            <a:extLst xmlns:a="http://schemas.openxmlformats.org/drawingml/2006/main">
              <a:ext uri="{FF2B5EF4-FFF2-40B4-BE49-F238E27FC236}">
                <a16:creationId xmlns:a16="http://schemas.microsoft.com/office/drawing/2014/main" id="{CA0F6550-3901-4388-80FC-9C0264AE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2"/>
          </a:solidFill>
          <a:ln xmlns:a="http://schemas.openxmlformats.org/drawingml/2006/main" w="0">
            <a:solidFill>
              <a:srgbClr val="2E8B72"/>
            </a:solidFill>
            <a:prstDash val="solid"/>
          </a:ln>
        </p:spPr>
      </p:sp>
      <p:sp>
        <p:nvSpPr>
          <p:cNvPr id="5" name="metric-0.813-882">
            <a:extLst xmlns:a="http://schemas.openxmlformats.org/drawingml/2006/main">
              <a:ext uri="{FF2B5EF4-FFF2-40B4-BE49-F238E27FC236}">
                <a16:creationId xmlns:a16="http://schemas.microsoft.com/office/drawing/2014/main" id="{EE34FE19-019F-498D-9AD2-C9D4407A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rPr>
              <a:t>0.813</a:t>
            </a:r>
          </a:p>
        </p:txBody>
      </p:sp>
      <p:sp>
        <p:nvSpPr>
          <p:cNvPr id="6" name="metric-label-882-158">
            <a:extLst xmlns:a="http://schemas.openxmlformats.org/drawingml/2006/main">
              <a:ext uri="{FF2B5EF4-FFF2-40B4-BE49-F238E27FC236}">
                <a16:creationId xmlns:a16="http://schemas.microsoft.com/office/drawing/2014/main" id="{D747D6CA-8C1A-47A1-982C-6C749257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526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Guard variable: positive control succeeds</a:t>
            </a:r>
          </a:p>
        </p:txBody>
      </p:sp>
      <p:sp>
        <p:nvSpPr>
          <p:cNvPr id="7" name="rule-882-334">
            <a:extLst xmlns:a="http://schemas.openxmlformats.org/drawingml/2006/main">
              <a:ext uri="{FF2B5EF4-FFF2-40B4-BE49-F238E27FC236}">
                <a16:creationId xmlns:a16="http://schemas.microsoft.com/office/drawing/2014/main" id="{795C50B2-B253-452C-911D-51C9E35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63"/>
          </a:solidFill>
          <a:ln xmlns:a="http://schemas.openxmlformats.org/drawingml/2006/main" w="0">
            <a:solidFill>
              <a:srgbClr val="D85B63"/>
            </a:solidFill>
            <a:prstDash val="solid"/>
          </a:ln>
        </p:spPr>
      </p:sp>
      <p:sp>
        <p:nvSpPr>
          <p:cNvPr id="8" name="metric-0.500-882">
            <a:extLst xmlns:a="http://schemas.openxmlformats.org/drawingml/2006/main">
              <a:ext uri="{FF2B5EF4-FFF2-40B4-BE49-F238E27FC236}">
                <a16:creationId xmlns:a16="http://schemas.microsoft.com/office/drawing/2014/main" id="{CE81027B-28D3-4274-B5D8-4B1DA32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52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rPr>
              <a:t>0.500</a:t>
            </a:r>
          </a:p>
        </p:txBody>
      </p:sp>
      <p:sp>
        <p:nvSpPr>
          <p:cNvPr id="9" name="metric-label-882-334">
            <a:extLst xmlns:a="http://schemas.openxmlformats.org/drawingml/2006/main">
              <a:ext uri="{FF2B5EF4-FFF2-40B4-BE49-F238E27FC236}">
                <a16:creationId xmlns:a16="http://schemas.microsoft.com/office/drawing/2014/main" id="{B14F0422-EB64-45FF-8305-25E11B77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290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Control dependence: chance after temporal matching</a:t>
            </a:r>
          </a:p>
        </p:txBody>
      </p:sp>
      <p:sp>
        <p:nvSpPr>
          <p:cNvPr id="10" name="dissoc">
            <a:extLst xmlns:a="http://schemas.openxmlformats.org/drawingml/2006/main">
              <a:ext uri="{FF2B5EF4-FFF2-40B4-BE49-F238E27FC236}">
                <a16:creationId xmlns:a16="http://schemas.microsoft.com/office/drawing/2014/main" id="{7F44B8C4-0DFF-4920-B148-FD8D545F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339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34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Yet a trained probe decodes the same relation at AUC 0.999.</a:t>
            </a:r>
          </a:p>
        </p:txBody>
      </p:sp>
      <p:sp>
        <p:nvSpPr>
          <p:cNvPr id="11" name="confound">
            <a:extLst xmlns:a="http://schemas.openxmlformats.org/drawingml/2006/main">
              <a:ext uri="{FF2B5EF4-FFF2-40B4-BE49-F238E27FC236}">
                <a16:creationId xmlns:a16="http://schemas.microsoft.com/office/drawing/2014/main" id="{4692B166-2A7D-4623-A2F7-8908A2A0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pooled late below-chance tail was a recency confound; matched intervals include chance at every layer.</a:t>
            </a:r>
          </a:p>
        </p:txBody>
      </p:sp>
    </p:spTree>
    <p:extLst>
      <p:ext uri="{BB962C8B-B14F-4D97-AF65-F5344CB8AC3E}">
        <p14:creationId xmlns:p14="http://schemas.microsoft.com/office/powerpoint/2010/main" val="13971458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3">
            <a:extLst xmlns:a="http://schemas.openxmlformats.org/drawingml/2006/main">
              <a:ext uri="{FF2B5EF4-FFF2-40B4-BE49-F238E27FC236}">
                <a16:creationId xmlns:a16="http://schemas.microsoft.com/office/drawing/2014/main" id="{68D61F01-E200-4E9E-B91B-6D97FC6E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layer signature transfers to real Python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91989B4F-9CE2-4FD4-98F4-7BF1E9EA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c28e662ed4269"/>
          <a:stretch xmlns:a="http://schemas.openxmlformats.org/drawingml/2006/main"/>
        </p:blipFill>
        <p:spPr>
          <a:xfrm xmlns:a="http://schemas.openxmlformats.org/drawingml/2006/main">
            <a:off x="400050" y="1315429"/>
            <a:ext cx="7715250" cy="4741492"/>
          </a:xfrm>
          <a:prstGeom xmlns:a="http://schemas.openxmlformats.org/drawingml/2006/main" prst="rect">
            <a:avLst/>
          </a:prstGeom>
        </p:spPr>
      </p:pic>
      <p:sp>
        <p:nvSpPr>
          <p:cNvPr id="4" name="rule-906-172">
            <a:extLst xmlns:a="http://schemas.openxmlformats.org/drawingml/2006/main">
              <a:ext uri="{FF2B5EF4-FFF2-40B4-BE49-F238E27FC236}">
                <a16:creationId xmlns:a16="http://schemas.microsoft.com/office/drawing/2014/main" id="{5D59793B-2ED0-4614-AE46-34B128E5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38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metric-≈0.90-906">
            <a:extLst xmlns:a="http://schemas.openxmlformats.org/drawingml/2006/main">
              <a:ext uri="{FF2B5EF4-FFF2-40B4-BE49-F238E27FC236}">
                <a16:creationId xmlns:a16="http://schemas.microsoft.com/office/drawing/2014/main" id="{5063231B-1F03-4D86-82FC-6168B6A0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≈0.90</a:t>
            </a:r>
          </a:p>
        </p:txBody>
      </p:sp>
      <p:sp>
        <p:nvSpPr>
          <p:cNvPr id="6" name="metric-label-906-172">
            <a:extLst xmlns:a="http://schemas.openxmlformats.org/drawingml/2006/main">
              <a:ext uri="{FF2B5EF4-FFF2-40B4-BE49-F238E27FC236}">
                <a16:creationId xmlns:a16="http://schemas.microsoft.com/office/drawing/2014/main" id="{BE39BA82-9B50-4582-8C8D-4289E8A0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8602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Accuracy on CodeSearchNet Python</a:t>
            </a:r>
          </a:p>
        </p:txBody>
      </p:sp>
      <p:sp>
        <p:nvSpPr>
          <p:cNvPr id="7" name="rule-906-342">
            <a:extLst xmlns:a="http://schemas.openxmlformats.org/drawingml/2006/main">
              <a:ext uri="{FF2B5EF4-FFF2-40B4-BE49-F238E27FC236}">
                <a16:creationId xmlns:a16="http://schemas.microsoft.com/office/drawing/2014/main" id="{EEF9AE81-7461-487B-AF2F-9325D04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2"/>
          </a:solidFill>
          <a:ln xmlns:a="http://schemas.openxmlformats.org/drawingml/2006/main" w="0">
            <a:solidFill>
              <a:srgbClr val="2E8B72"/>
            </a:solidFill>
            <a:prstDash val="solid"/>
          </a:ln>
        </p:spPr>
      </p:sp>
      <p:sp>
        <p:nvSpPr>
          <p:cNvPr id="8" name="metric-≈0.98-906">
            <a:extLst xmlns:a="http://schemas.openxmlformats.org/drawingml/2006/main">
              <a:ext uri="{FF2B5EF4-FFF2-40B4-BE49-F238E27FC236}">
                <a16:creationId xmlns:a16="http://schemas.microsoft.com/office/drawing/2014/main" id="{2DFF3285-93C1-4BB5-AC32-843D54FD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rPr>
              <a:t>≈0.98</a:t>
            </a:r>
          </a:p>
        </p:txBody>
      </p:sp>
      <p:sp>
        <p:nvSpPr>
          <p:cNvPr id="9" name="metric-label-906-342">
            <a:extLst xmlns:a="http://schemas.openxmlformats.org/drawingml/2006/main">
              <a:ext uri="{FF2B5EF4-FFF2-40B4-BE49-F238E27FC236}">
                <a16:creationId xmlns:a16="http://schemas.microsoft.com/office/drawing/2014/main" id="{D67D5C5B-E800-41C8-8D6D-CC07CAD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0527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Area under the ROC curve</a:t>
            </a:r>
          </a:p>
        </p:txBody>
      </p:sp>
      <p:sp>
        <p:nvSpPr>
          <p:cNvPr id="10" name="transfer-limit">
            <a:extLst xmlns:a="http://schemas.openxmlformats.org/drawingml/2006/main">
              <a:ext uri="{FF2B5EF4-FFF2-40B4-BE49-F238E27FC236}">
                <a16:creationId xmlns:a16="http://schemas.microsoft.com/office/drawing/2014/main" id="{8F1AF993-1A96-4286-B894-73BC5A3A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720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Useful external check — but real code cannot isolate semantic information from correlated lexical cues.</a:t>
            </a:r>
          </a:p>
        </p:txBody>
      </p:sp>
    </p:spTree>
    <p:extLst>
      <p:ext uri="{BB962C8B-B14F-4D97-AF65-F5344CB8AC3E}">
        <p14:creationId xmlns:p14="http://schemas.microsoft.com/office/powerpoint/2010/main" val="1824290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4">
            <a:extLst xmlns:a="http://schemas.openxmlformats.org/drawingml/2006/main">
              <a:ext uri="{FF2B5EF4-FFF2-40B4-BE49-F238E27FC236}">
                <a16:creationId xmlns:a16="http://schemas.microsoft.com/office/drawing/2014/main" id="{D63FBE75-2485-4896-8F4C-368A4489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09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Conclusion — semantic state has four different fates</a:t>
            </a:r>
          </a:p>
        </p:txBody>
      </p:sp>
      <p:sp>
        <p:nvSpPr>
          <p:cNvPr id="2" name="rule-42-112">
            <a:extLst xmlns:a="http://schemas.openxmlformats.org/drawingml/2006/main">
              <a:ext uri="{FF2B5EF4-FFF2-40B4-BE49-F238E27FC236}">
                <a16:creationId xmlns:a16="http://schemas.microsoft.com/office/drawing/2014/main" id="{E6F8B5DC-3183-4E15-A4ED-C036C324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rule-42-158">
            <a:extLst xmlns:a="http://schemas.openxmlformats.org/drawingml/2006/main">
              <a:ext uri="{FF2B5EF4-FFF2-40B4-BE49-F238E27FC236}">
                <a16:creationId xmlns:a16="http://schemas.microsoft.com/office/drawing/2014/main" id="{04CE0B49-54EE-45CE-9F4F-F1DF38DD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final-k-0">
            <a:extLst xmlns:a="http://schemas.openxmlformats.org/drawingml/2006/main">
              <a:ext uri="{FF2B5EF4-FFF2-40B4-BE49-F238E27FC236}">
                <a16:creationId xmlns:a16="http://schemas.microsoft.com/office/drawing/2014/main" id="{9DA160C5-ADCE-402B-920E-FACA0FC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BUILT</a:t>
            </a:r>
          </a:p>
        </p:txBody>
      </p:sp>
      <p:sp>
        <p:nvSpPr>
          <p:cNvPr id="5" name="final-v-0">
            <a:extLst xmlns:a="http://schemas.openxmlformats.org/drawingml/2006/main">
              <a:ext uri="{FF2B5EF4-FFF2-40B4-BE49-F238E27FC236}">
                <a16:creationId xmlns:a16="http://schemas.microsoft.com/office/drawing/2014/main" id="{10E41F6E-E137-4230-9BD0-768219F7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28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Exact 0.500 floor → 0.984 mid-layer</a:t>
            </a:r>
          </a:p>
        </p:txBody>
      </p:sp>
      <p:sp>
        <p:nvSpPr>
          <p:cNvPr id="6" name="rule-42-256">
            <a:extLst xmlns:a="http://schemas.openxmlformats.org/drawingml/2006/main">
              <a:ext uri="{FF2B5EF4-FFF2-40B4-BE49-F238E27FC236}">
                <a16:creationId xmlns:a16="http://schemas.microsoft.com/office/drawing/2014/main" id="{22E3B872-912D-4BFF-BC53-EDF23467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2"/>
          </a:solidFill>
          <a:ln xmlns:a="http://schemas.openxmlformats.org/drawingml/2006/main" w="0">
            <a:solidFill>
              <a:srgbClr val="2E8B72"/>
            </a:solidFill>
            <a:prstDash val="solid"/>
          </a:ln>
        </p:spPr>
      </p:sp>
      <p:sp>
        <p:nvSpPr>
          <p:cNvPr id="7" name="final-k-1">
            <a:extLst xmlns:a="http://schemas.openxmlformats.org/drawingml/2006/main">
              <a:ext uri="{FF2B5EF4-FFF2-40B4-BE49-F238E27FC236}">
                <a16:creationId xmlns:a16="http://schemas.microsoft.com/office/drawing/2014/main" id="{5A8F06D1-CC13-4BDF-B704-39BEBEC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2E8B72"/>
                </a:solidFill>
                <a:latin typeface="Helvetica Neue"/>
                <a:ea typeface="Helvetica Neue"/>
                <a:cs typeface="Helvetica Neue"/>
              </a:rPr>
              <a:t>USED</a:t>
            </a:r>
          </a:p>
        </p:txBody>
      </p:sp>
      <p:sp>
        <p:nvSpPr>
          <p:cNvPr id="8" name="final-v-1">
            <a:extLst xmlns:a="http://schemas.openxmlformats.org/drawingml/2006/main">
              <a:ext uri="{FF2B5EF4-FFF2-40B4-BE49-F238E27FC236}">
                <a16:creationId xmlns:a16="http://schemas.microsoft.com/office/drawing/2014/main" id="{BB947475-22E9-4169-BC3B-5211424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Causal recovery moves from sink token to output</a:t>
            </a:r>
          </a:p>
        </p:txBody>
      </p:sp>
      <p:sp>
        <p:nvSpPr>
          <p:cNvPr id="9" name="rule-42-354">
            <a:extLst xmlns:a="http://schemas.openxmlformats.org/drawingml/2006/main">
              <a:ext uri="{FF2B5EF4-FFF2-40B4-BE49-F238E27FC236}">
                <a16:creationId xmlns:a16="http://schemas.microsoft.com/office/drawing/2014/main" id="{5A78F27C-CBD2-403E-9A40-C66D519A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63"/>
          </a:solidFill>
          <a:ln xmlns:a="http://schemas.openxmlformats.org/drawingml/2006/main" w="0">
            <a:solidFill>
              <a:srgbClr val="D85B63"/>
            </a:solidFill>
            <a:prstDash val="solid"/>
          </a:ln>
        </p:spPr>
      </p:sp>
      <p:sp>
        <p:nvSpPr>
          <p:cNvPr id="10" name="final-k-2">
            <a:extLst xmlns:a="http://schemas.openxmlformats.org/drawingml/2006/main">
              <a:ext uri="{FF2B5EF4-FFF2-40B4-BE49-F238E27FC236}">
                <a16:creationId xmlns:a16="http://schemas.microsoft.com/office/drawing/2014/main" id="{7041F805-363C-40CC-AFF5-E2BDEBEE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D85B63"/>
                </a:solidFill>
                <a:latin typeface="Helvetica Neue"/>
                <a:ea typeface="Helvetica Neue"/>
                <a:cs typeface="Helvetica Neue"/>
              </a:rPr>
              <a:t>NOT REPORTED</a:t>
            </a:r>
          </a:p>
        </p:txBody>
      </p:sp>
      <p:sp>
        <p:nvSpPr>
          <p:cNvPr id="11" name="final-v-2">
            <a:extLst xmlns:a="http://schemas.openxmlformats.org/drawingml/2006/main">
              <a:ext uri="{FF2B5EF4-FFF2-40B4-BE49-F238E27FC236}">
                <a16:creationId xmlns:a16="http://schemas.microsoft.com/office/drawing/2014/main" id="{3417FAD2-3FB0-400A-8ABC-230B709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95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Probe AUC 0.999; validated J-lens at chance</a:t>
            </a:r>
          </a:p>
        </p:txBody>
      </p:sp>
      <p:sp>
        <p:nvSpPr>
          <p:cNvPr id="12" name="rule-42-452">
            <a:extLst xmlns:a="http://schemas.openxmlformats.org/drawingml/2006/main">
              <a:ext uri="{FF2B5EF4-FFF2-40B4-BE49-F238E27FC236}">
                <a16:creationId xmlns:a16="http://schemas.microsoft.com/office/drawing/2014/main" id="{34B9549F-CCB3-42DE-A9D6-588CFB8F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3D2"/>
          </a:solidFill>
          <a:ln xmlns:a="http://schemas.openxmlformats.org/drawingml/2006/main" w="0">
            <a:solidFill>
              <a:srgbClr val="8A63D2"/>
            </a:solidFill>
            <a:prstDash val="solid"/>
          </a:ln>
        </p:spPr>
      </p:sp>
      <p:sp>
        <p:nvSpPr>
          <p:cNvPr id="13" name="final-k-3">
            <a:extLst xmlns:a="http://schemas.openxmlformats.org/drawingml/2006/main">
              <a:ext uri="{FF2B5EF4-FFF2-40B4-BE49-F238E27FC236}">
                <a16:creationId xmlns:a16="http://schemas.microsoft.com/office/drawing/2014/main" id="{E9B98BE8-8CFB-40AB-9AC1-E9DD551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8A63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8A63D2"/>
                </a:solidFill>
                <a:latin typeface="Helvetica Neue"/>
                <a:ea typeface="Helvetica Neue"/>
                <a:cs typeface="Helvetica Neue"/>
              </a:rPr>
              <a:t>NOT ANTICIPATORY</a:t>
            </a:r>
          </a:p>
        </p:txBody>
      </p:sp>
      <p:sp>
        <p:nvSpPr>
          <p:cNvPr id="14" name="final-v-3">
            <a:extLst xmlns:a="http://schemas.openxmlformats.org/drawingml/2006/main">
              <a:ext uri="{FF2B5EF4-FFF2-40B4-BE49-F238E27FC236}">
                <a16:creationId xmlns:a16="http://schemas.microsoft.com/office/drawing/2014/main" id="{A3FDA690-C48A-4751-BC4A-663A4250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291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State correct on every observed model-wrong prefix</a:t>
            </a:r>
          </a:p>
        </p:txBody>
      </p:sp>
      <p:sp>
        <p:nvSpPr>
          <p:cNvPr id="15" name="takeaway-bg">
            <a:extLst xmlns:a="http://schemas.openxmlformats.org/drawingml/2006/main">
              <a:ext uri="{FF2B5EF4-FFF2-40B4-BE49-F238E27FC236}">
                <a16:creationId xmlns:a16="http://schemas.microsoft.com/office/drawing/2014/main" id="{ED33D28F-7668-46B5-8D96-465C7A75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C8258696-5F49-4C37-96BB-D867E709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662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model can compute a semantic fact without making that fact verbally accessible or using it to anticipate failure.</a:t>
            </a:r>
          </a:p>
        </p:txBody>
      </p:sp>
    </p:spTree>
    <p:extLst>
      <p:ext uri="{BB962C8B-B14F-4D97-AF65-F5344CB8AC3E}">
        <p14:creationId xmlns:p14="http://schemas.microsoft.com/office/powerpoint/2010/main" val="636370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2026-08-06T14:00:01.0760000Z</dcterms:created>
  <dcterms:modified xsi:type="dcterms:W3CDTF">2026-08-06T14:00:01.0760000Z</dcterms:modified>
</coreProperties>
</file>