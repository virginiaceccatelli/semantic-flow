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0fbd4ee09e4a60" /><Relationship Type="http://schemas.openxmlformats.org/officeDocument/2006/relationships/extended-properties" Target="/docProps/app.xml" Id="R4348fb6c94a040b0" /><Relationship Type="http://schemas.openxmlformats.org/officeDocument/2006/relationships/officeDocument" Target="/ppt/presentation.xml" Id="R3b0a7b5cdc08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acd43a0104f15"/>
  </p:sldMasterIdLst>
  <p:notesMasterIdLst>
    <p:notesMasterId xmlns:r="http://schemas.openxmlformats.org/officeDocument/2006/relationships" r:id="R169e02751ab94baf"/>
  </p:notesMasterIdLst>
  <p:sldIdLst>
    <p:sldId xmlns:r="http://schemas.openxmlformats.org/officeDocument/2006/relationships" id="256" r:id="Rd49088d9a8514db3"/>
    <p:sldId xmlns:r="http://schemas.openxmlformats.org/officeDocument/2006/relationships" id="257" r:id="Refcedbce37be4a93"/>
    <p:sldId xmlns:r="http://schemas.openxmlformats.org/officeDocument/2006/relationships" id="258" r:id="Rccbf31c54b914dc3"/>
    <p:sldId xmlns:r="http://schemas.openxmlformats.org/officeDocument/2006/relationships" id="259" r:id="Rc60024bd6e3c4ab2"/>
    <p:sldId xmlns:r="http://schemas.openxmlformats.org/officeDocument/2006/relationships" id="260" r:id="Rc06cf87a85a84cdc"/>
    <p:sldId xmlns:r="http://schemas.openxmlformats.org/officeDocument/2006/relationships" id="261" r:id="Rcd0aa50237ac445e"/>
    <p:sldId xmlns:r="http://schemas.openxmlformats.org/officeDocument/2006/relationships" id="262" r:id="Rff6d452f62474b78"/>
    <p:sldId xmlns:r="http://schemas.openxmlformats.org/officeDocument/2006/relationships" id="263" r:id="Ra19720f2815149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f1c820abfd4ea3" /><Relationship Type="http://schemas.openxmlformats.org/officeDocument/2006/relationships/slideMaster" Target="/ppt/slideMasters/slideMaster1.xml" Id="R9ceacd43a0104f15" /><Relationship Type="http://schemas.openxmlformats.org/officeDocument/2006/relationships/notesMaster" Target="/ppt/notesMasters/notesMaster1.xml" Id="R169e02751ab94baf" /><Relationship Type="http://schemas.openxmlformats.org/officeDocument/2006/relationships/presProps" Target="/ppt/presProps.xml" Id="Rebb268df386b4c1e" /><Relationship Type="http://schemas.openxmlformats.org/officeDocument/2006/relationships/tableStyles" Target="/ppt/tableStyles.xml" Id="Rd84a59e712404eca" /><Relationship Type="http://schemas.openxmlformats.org/officeDocument/2006/relationships/slide" Target="/ppt/slides/slide1.xml" Id="Rd49088d9a8514db3" /><Relationship Type="http://schemas.openxmlformats.org/officeDocument/2006/relationships/slide" Target="/ppt/slides/slide2.xml" Id="Refcedbce37be4a93" /><Relationship Type="http://schemas.openxmlformats.org/officeDocument/2006/relationships/slide" Target="/ppt/slides/slide3.xml" Id="Rccbf31c54b914dc3" /><Relationship Type="http://schemas.openxmlformats.org/officeDocument/2006/relationships/slide" Target="/ppt/slides/slide4.xml" Id="Rc60024bd6e3c4ab2" /><Relationship Type="http://schemas.openxmlformats.org/officeDocument/2006/relationships/slide" Target="/ppt/slides/slide5.xml" Id="Rc06cf87a85a84cdc" /><Relationship Type="http://schemas.openxmlformats.org/officeDocument/2006/relationships/slide" Target="/ppt/slides/slide6.xml" Id="Rcd0aa50237ac445e" /><Relationship Type="http://schemas.openxmlformats.org/officeDocument/2006/relationships/slide" Target="/ppt/slides/slide7.xml" Id="Rff6d452f62474b78" /><Relationship Type="http://schemas.openxmlformats.org/officeDocument/2006/relationships/slide" Target="/ppt/slides/slide8.xml" Id="Ra19720f2815149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f0438ae58d45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aa08d193cb4ed4" /><Relationship Type="http://schemas.openxmlformats.org/officeDocument/2006/relationships/notesMaster" Target="/ppt/notesMasters/notesMaster1.xml" Id="Rdbdaef18d08c4e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9e6f52d9d54b44" /><Relationship Type="http://schemas.openxmlformats.org/officeDocument/2006/relationships/notesMaster" Target="/ppt/notesMasters/notesMaster1.xml" Id="R67169c7ed0eb44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c17fbc5eb54704" /><Relationship Type="http://schemas.openxmlformats.org/officeDocument/2006/relationships/notesMaster" Target="/ppt/notesMasters/notesMaster1.xml" Id="R24114b8480e746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df4886c2ab4512" /><Relationship Type="http://schemas.openxmlformats.org/officeDocument/2006/relationships/notesMaster" Target="/ppt/notesMasters/notesMaster1.xml" Id="R22903732bf8247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54c78e72f34778" /><Relationship Type="http://schemas.openxmlformats.org/officeDocument/2006/relationships/notesMaster" Target="/ppt/notesMasters/notesMaster1.xml" Id="Re63405ea9b4f4b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04a77ca23c4b1d" /><Relationship Type="http://schemas.openxmlformats.org/officeDocument/2006/relationships/notesMaster" Target="/ppt/notesMasters/notesMaster1.xml" Id="R79b5eb2372554c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795072e45349de" /><Relationship Type="http://schemas.openxmlformats.org/officeDocument/2006/relationships/notesMaster" Target="/ppt/notesMasters/notesMaster1.xml" Id="R7d17f0fdef1340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60265901b948ea" /><Relationship Type="http://schemas.openxmlformats.org/officeDocument/2006/relationships/notesMaster" Target="/ppt/notesMasters/notesMaster1.xml" Id="R2182c8ba95524a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docs/METHODS.md §§0, 3, 6,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is a repository-generated experimental result. Clean held-out hidden-state readout reaches 1.00 at the reported cell; local and whole-program lexical floors are approximately 0.43–0.54 across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results/figures/sinkflow_cells_deepseek-coder-6.7b.png.</a:t>
            </a:r>
          </a:p>
          <a:p xmlns:a="http://schemas.openxmlformats.org/drawingml/2006/main">
            <a:r>
              <a:t>- results/tables/sinkflow_clean_deepseek-coder-6.7b.csv.</a:t>
            </a:r>
          </a:p>
          <a:p xmlns:a="http://schemas.openxmlformats.org/drawingml/2006/main">
            <a:r>
              <a:t>- docs/RESULTS.md R5.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Heatmap columns are cumulative obfuscation levels 0–4; rows are model layers. The side numbers summarize atomic transformations at the best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results/figures/obfuscation_binding_deepseek-coder-6.7b.png.</a:t>
            </a:r>
          </a:p>
          <a:p xmlns:a="http://schemas.openxmlformats.org/drawingml/2006/main">
            <a:r>
              <a:t>- results/tables/obfuscation_robustness_*.csv.</a:t>
            </a:r>
          </a:p>
          <a:p xmlns:a="http://schemas.openxmlformats.org/drawingml/2006/main">
            <a:r>
              <a:t>- docs/RESULTS.md R4.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R-lens gate passes on both DeepSeek models: final-layer agreement 1.0000; median conservation error 0.0000 / 0.0001 across validation layers. It is not applicable to StarCoder2 under the implemented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docs/METHODS.md §§6.4–6.5.</a:t>
            </a:r>
          </a:p>
          <a:p xmlns:a="http://schemas.openxmlformats.org/drawingml/2006/main">
            <a:r>
              <a:t>- docs/RESULTS.md R6 and R9.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Attribution conservation at the reported cells has median |rho−1| around 1e−7 / 2e−7. The direction is counterintuitive rather than a simple active-chain trace, so the claim is redistribution, not faithful reasoning-path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results/tables/relevance_summary_deepseek-coder-1.3b.csv.</a:t>
            </a:r>
          </a:p>
          <a:p xmlns:a="http://schemas.openxmlformats.org/drawingml/2006/main">
            <a:r>
              <a:t>- results/tables/relevance_summary_deepseek-coder-6.7b.csv.</a:t>
            </a:r>
          </a:p>
          <a:p xmlns:a="http://schemas.openxmlformats.org/drawingml/2006/main">
            <a:r>
              <a:t>- docs/RESULTS.md R9.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 held-out sink prompt: pair ordering 0.694 / 0.750 / 0.917. At the strongest internal cell, lens sign consistency is approximately 0.889 / 0.847 / 0.944. The logit, J- and R-lenses reach essentially the same conclusion; R-lens is not required for this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results/tables/positive_behaviour_summary_*.csv.</a:t>
            </a:r>
          </a:p>
          <a:p xmlns:a="http://schemas.openxmlformats.org/drawingml/2006/main">
            <a:r>
              <a:t>- docs/RESULTS.md R8.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learned subspace is fitted only on arm ab. Successful transfer to ba falsifies a fixed answer-token direction because that account predicts the opposite sign in 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docs/METHODS.md §8.</a:t>
            </a:r>
          </a:p>
          <a:p xmlns:a="http://schemas.openxmlformats.org/drawingml/2006/main">
            <a:r>
              <a:t>- docs/RESULTS.md R10.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causal evidence for binding, not yet for taint flow. A taint-specific intervention would be needed to establish causal use of the source-to-sink distinction.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results/binding/deepseek-coder-6.7b/interchange_summary.csv.</a:t>
            </a:r>
          </a:p>
          <a:p xmlns:a="http://schemas.openxmlformats.org/drawingml/2006/main">
            <a:r>
              <a:t>- results/binding/starcoder2-3b/interchange_summary.csv.</a:t>
            </a:r>
          </a:p>
          <a:p xmlns:a="http://schemas.openxmlformats.org/drawingml/2006/main">
            <a:r>
              <a:t>- docs/RESULTS.md R10.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443fc3d194f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02231a8d2045e6" /><Relationship Type="http://schemas.openxmlformats.org/officeDocument/2006/relationships/slideLayout" Target="/ppt/slideLayouts/slideLayout1.xml" Id="Re43168f3abf74e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3168f3abf74e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f25b060d74549" /><Relationship Type="http://schemas.openxmlformats.org/officeDocument/2006/relationships/notesSlide" Target="/ppt/notesSlides/notesSlide1.xml" Id="R3103f0e41ff14a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8d0a9cbc74ba3" /><Relationship Type="http://schemas.openxmlformats.org/officeDocument/2006/relationships/image" Target="/ppt/media/image.png" Id="Ra35292c5db024c90" /><Relationship Type="http://schemas.openxmlformats.org/officeDocument/2006/relationships/notesSlide" Target="/ppt/notesSlides/notesSlide2.xml" Id="R1823da65536c4e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994ed7c864fa4" /><Relationship Type="http://schemas.openxmlformats.org/officeDocument/2006/relationships/image" Target="/ppt/media/image2.png" Id="Ra9d019206ca64cab" /><Relationship Type="http://schemas.openxmlformats.org/officeDocument/2006/relationships/notesSlide" Target="/ppt/notesSlides/notesSlide3.xml" Id="Rbaf4276c7ccd45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d5388558444a9" /><Relationship Type="http://schemas.openxmlformats.org/officeDocument/2006/relationships/notesSlide" Target="/ppt/notesSlides/notesSlide4.xml" Id="R3d831a88c80b4b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778212edf4799" /><Relationship Type="http://schemas.openxmlformats.org/officeDocument/2006/relationships/notesSlide" Target="/ppt/notesSlides/notesSlide5.xml" Id="R86c0ee2714fd40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e9519c7264daf" /><Relationship Type="http://schemas.openxmlformats.org/officeDocument/2006/relationships/chart" Target="/ppt/slides/charts/chart1.xml" Id="R558ba7fde27c4aee" /><Relationship Type="http://schemas.openxmlformats.org/officeDocument/2006/relationships/notesSlide" Target="/ppt/notesSlides/notesSlide6.xml" Id="Rd6cb836e541a4f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840ab88c3428c" /><Relationship Type="http://schemas.openxmlformats.org/officeDocument/2006/relationships/notesSlide" Target="/ppt/notesSlides/notesSlide7.xml" Id="R4ac3ea1e564147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c7ffd80864bb8" /><Relationship Type="http://schemas.openxmlformats.org/officeDocument/2006/relationships/chart" Target="/ppt/slides/charts/chart2.xml" Id="R10204b8a3ceb455f" /><Relationship Type="http://schemas.openxmlformats.org/officeDocument/2006/relationships/notesSlide" Target="/ppt/notesSlides/notesSlide8.xml" Id="R40697b60bdc1441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Final accuracy</c:v>
          </c:tx>
          <c:spPr>
            <a:solidFill xmlns:a="http://schemas.openxmlformats.org/drawingml/2006/main">
              <a:srgbClr val="626875"/>
            </a:solidFill>
          </c:spPr>
          <c:cat>
            <c:strLit>
              <c:ptCount val="3"/>
              <c:pt idx="0">
                <c:v>DeepSeek 1.3B</c:v>
              </c:pt>
              <c:pt idx="1">
                <c:v>DeepSeek 6.7B</c:v>
              </c:pt>
              <c:pt idx="2">
                <c:v>StarCoder2 3B</c:v>
              </c:pt>
            </c:strLit>
          </c:cat>
          <c:val>
            <c:numLit>
              <c:formatCode>0%</c:formatCode>
              <c:ptCount val="3"/>
              <c:pt idx="0">
                <c:v>0.5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1"/>
          <c:order val="1"/>
          <c:tx>
            <c:v>Correct pair ordering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DeepSeek 1.3B</c:v>
              </c:pt>
              <c:pt idx="1">
                <c:v>DeepSeek 6.7B</c:v>
              </c:pt>
              <c:pt idx="2">
                <c:v>StarCoder2 3B</c:v>
              </c:pt>
            </c:strLit>
          </c:cat>
          <c:val>
            <c:numLit>
              <c:formatCode>0%</c:formatCode>
              <c:ptCount val="3"/>
              <c:pt idx="0">
                <c:v>0.694</c:v>
              </c:pt>
              <c:pt idx="1">
                <c:v>0.75</c:v>
              </c:pt>
              <c:pt idx="2">
                <c:v>0.917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CBD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DeepSeek 6.7B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DAS rank-1</c:v>
              </c:pt>
              <c:pt idx="1">
                <c:v>Mean difference</c:v>
              </c:pt>
              <c:pt idx="2">
                <c:v>Answer direction</c:v>
              </c:pt>
              <c:pt idx="3">
                <c:v>Random, dose-matched</c:v>
              </c:pt>
            </c:strLit>
          </c:cat>
          <c:val>
            <c:numLit>
              <c:formatCode>0%</c:formatCode>
              <c:ptCount val="4"/>
              <c:pt idx="0">
                <c:v>1</c:v>
              </c:pt>
              <c:pt idx="1">
                <c:v>0.768</c:v>
              </c:pt>
              <c:pt idx="2">
                <c:v>0.043</c:v>
              </c:pt>
              <c:pt idx="3">
                <c:v>0.018</c:v>
              </c:pt>
            </c:numLit>
          </c:val>
        </c:ser>
        <c:ser>
          <c:idx val="1"/>
          <c:order val="1"/>
          <c:tx>
            <c:v>StarCoder2 3B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DAS rank-1</c:v>
              </c:pt>
              <c:pt idx="1">
                <c:v>Mean difference</c:v>
              </c:pt>
              <c:pt idx="2">
                <c:v>Answer direction</c:v>
              </c:pt>
              <c:pt idx="3">
                <c:v>Random, dose-matched</c:v>
              </c:pt>
            </c:strLit>
          </c:cat>
          <c:val>
            <c:numLit>
              <c:formatCode>0%</c:formatCode>
              <c:ptCount val="4"/>
              <c:pt idx="0">
                <c:v>1</c:v>
              </c:pt>
              <c:pt idx="1">
                <c:v>0.545</c:v>
              </c:pt>
              <c:pt idx="2">
                <c:v>0.184</c:v>
              </c:pt>
              <c:pt idx="3">
                <c:v>0.304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CBD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29629-22A3-4611-B204-8650B146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Probe, R-lens and DAS answer different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8E7A2-34F9-4408-84BE-9A7E3BA8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6FD7A-C484-4EEB-8046-DF8EF82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35814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D2806-2168-44F7-A8CF-A94C4085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00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PROBE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DE928-A0EE-46EB-9819-0261B702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145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Is the information present?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F3768-6E93-4ADB-8240-934623F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Train a separate linear classifier on hidden states.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CAB78-DCFE-4B76-BB47-4C2FA693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Availability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2B377-ECCB-4B06-9FAD-E7FEA744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33500"/>
            <a:ext cx="35814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EF3F0-D29A-42EC-94CE-2103FD7E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00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R-LENS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4E7AF-7876-4ACE-9242-1AD94ED3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Where is an output score attributed?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C692C-6899-486A-9721-43D22D46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432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Propagate one model output score backward to earlier tokens.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98C78-177D-4845-8E61-6830AB2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762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Output-associated attribution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AC2CD-C6E5-4ECA-8A6A-5F84D16E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33500"/>
            <a:ext cx="35814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7DA5D-E2B6-415E-B668-41BDBCDB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00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0E86E-E1CE-4EA2-A1DD-F93DC64F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145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Does changing the representation change the output?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E280-93CE-463B-9CE2-2FC18127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432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Interchange one learned semantic coordinate between runs.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1F736-F436-4424-8698-04AA3657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62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Causal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2DD60-1DA6-411D-B2F5-D913698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A positive result from one method does not imply a positive result from the others.</a:t>
            </a:r>
          </a:p>
        </p:txBody>
      </p:sp>
    </p:spTree>
    <p:extLst>
      <p:ext uri="{BB962C8B-B14F-4D97-AF65-F5344CB8AC3E}">
        <p14:creationId xmlns:p14="http://schemas.microsoft.com/office/powerpoint/2010/main" val="1745289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99BB5-8571-4569-9D2C-82048A89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Taint flow is linearly decodable at the sink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8F880-87A6-4DA9-8BBF-69DBAE59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7B3D2-EF93-4AEC-9AC4-72E8AF15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40AB3-AEF5-433D-9024-0456F4D7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096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Train on hidden states at the sink argument: source-derived or trusted? Freeze the probe; test held-out programs.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292c5db024c90"/>
          <a:stretch xmlns:a="http://schemas.openxmlformats.org/drawingml/2006/main"/>
        </p:blipFill>
        <p:spPr>
          <a:xfrm xmlns:a="http://schemas.openxmlformats.org/drawingml/2006/main">
            <a:off x="400050" y="2428506"/>
            <a:ext cx="7429500" cy="25724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BF7C9-C5CD-40B4-BFEF-8F753F6D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Clean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1D261-1680-4D54-ADE2-140F8A14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716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142A2-CE0B-4724-AA05-6E7BBA1E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Lexical floors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BE193-E366-427E-8A98-647CD7F0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574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0.43–0.54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3D108-6B15-4F7B-A71D-F3D34B56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195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E018E-D1A0-4EA3-B799-84CC5CA8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309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3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sink state contains information that separates source-derived from trusted 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086D0-4C1E-492F-8AF4-C42421C7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054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Not shown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ACC57-9780-4253-B321-B978980D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1975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Whether the model uses that information to produce an answer.</a:t>
            </a:r>
          </a:p>
        </p:txBody>
      </p:sp>
    </p:spTree>
    <p:extLst>
      <p:ext uri="{BB962C8B-B14F-4D97-AF65-F5344CB8AC3E}">
        <p14:creationId xmlns:p14="http://schemas.microsoft.com/office/powerpoint/2010/main" val="424680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E2AE8-8DB5-49FE-BBB4-339EEFC1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Frozen probes fail most under control-flow flattening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A1809-00A6-4EAF-90D5-1977AE4C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1C536-DC27-43E4-B266-06AC6021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80482-AACA-400A-980F-93A72F33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810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Apply clean-trained binding and def–use probes after semantics-preserving rewrites.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019206ca64cab"/>
          <a:stretch xmlns:a="http://schemas.openxmlformats.org/drawingml/2006/main"/>
        </p:blipFill>
        <p:spPr>
          <a:xfrm xmlns:a="http://schemas.openxmlformats.org/drawingml/2006/main">
            <a:off x="715930" y="1476375"/>
            <a:ext cx="689299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49D25-4FF9-460E-9192-FB055626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DeepSeek 6.7B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FABC2-0AD2-4169-8C8A-76B27301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Best-layer binding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6D8AC-C1DA-4138-8A0A-0D002C5B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0CBEE-6D74-4F12-B247-0BA93E58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0.90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6FD24-6390-4274-8EB5-D8A2080E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670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Opaque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704E9-90AD-4D6A-921A-EEB10DB3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670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0.86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F643C-2E6B-4086-A720-CB9E4FD2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623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MBA encode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6B85E-C93F-4992-BE00-0488C92A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623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0.86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818CD-B5CC-45B6-9CEC-27518CAB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814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5B54E-CE3C-4821-AE3A-FC9B5D8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576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Flatten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9A9E8-1E0E-423D-869D-B02F0E18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5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0.77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F333F-A658-4720-8E28-C875606D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Across 3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5EF95-D7DF-4140-A15D-C8830D29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435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Flattening is the lowest-accuracy transformation for both binding and def–use.</a:t>
            </a:r>
          </a:p>
        </p:txBody>
      </p:sp>
    </p:spTree>
    <p:extLst>
      <p:ext uri="{BB962C8B-B14F-4D97-AF65-F5344CB8AC3E}">
        <p14:creationId xmlns:p14="http://schemas.microsoft.com/office/powerpoint/2010/main" val="1519020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EDB6D-ED58-4941-BB9D-4D5D2EF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R-lens attributes one answer score across the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6F4F5-048E-4967-BAD5-8F589D8E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D7ED9-7168-4F45-AEE0-947757AC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7123E-8736-4620-8C62-5A3096F8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66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Model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2A939-D9B7-499B-AAC4-E009D2D1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431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score(‘vulnerable’)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DCD61-00BE-4FED-AEC9-D749F796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95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R-lens starts here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050C2-E499-4FFF-AB35-2395C113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261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It changes only the backward calculation; the forward answer is unchanged.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A451D-2269-4473-A92F-0C07C987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4C46D-1043-4358-8CD6-293C17DD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Backward allocation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F0418-A629-4473-A2C3-49A34A69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Conserving relevance rules propagate the score through each layer.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719B9-651A-4CC9-B54E-FED97833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Earlier-token shares add back to approximately the original score.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05D42-EDF9-4E6E-BC6B-32C67459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811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CE225-6C72-4E8F-9125-141D2AC5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666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Grouped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728D7-06E5-4820-B41F-F715B6FF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43125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taint chain</a:t>
            </a:r>
          </a:p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trust chain</a:t>
            </a:r>
          </a:p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sink</a:t>
            </a:r>
          </a:p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other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7DB44-FD9C-49C0-9BB0-93166CD1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00500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Compare role shares across a matched safe/unsafe pair.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65A98-037A-4782-9AA6-B5BC650B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R-lens does not test whether information is decodable, and it does not establish causal necessity.</a:t>
            </a:r>
          </a:p>
        </p:txBody>
      </p:sp>
    </p:spTree>
    <p:extLst>
      <p:ext uri="{BB962C8B-B14F-4D97-AF65-F5344CB8AC3E}">
        <p14:creationId xmlns:p14="http://schemas.microsoft.com/office/powerpoint/2010/main" val="1269671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07C888-76C1-46D9-958E-DF0F660F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R-lens finds a small redistribution between identical chains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03DD2-612F-4525-9375-1BC525BB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138BF-52CD-435A-A619-6BF7761F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Matched-pair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F6516-5BCD-4AA4-B88F-1BAE8935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9810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taint and trust chains use identical tokens; only which chain reaches the sink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0EE38-09CE-408E-9E03-E7397D7B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Reported cell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BC78E-6C4C-46CA-928B-0FD1776E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DeepSeek 1.3B · L0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A8FB5-E79E-4EAC-B680-B4C4C39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DeepSeek 6.7B · L11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708EC-9944-42FF-8AA1-AFA43F58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47875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8F44D-CA95-4C57-9054-8E0A55DF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Taint chain shifts 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1DE9F-2D36-41C2-A2BE-CACB82BE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65 / 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34321-078C-428F-A38E-7037045B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64 / 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016A4-EAA2-444E-82D7-A671B6E0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Trust chain shifts 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F4086-771E-4418-B0BA-B9A35559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63 / 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E2FDD-9ECE-491A-825D-7B3521D2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57 / 72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EEFEF-C587-44DA-8DB3-CDBF8EF3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09925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C8CBE-3F58-4574-B57C-B2F05712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051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Median taint shift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42701-0E9C-482A-9DE8-1399FCDB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05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−0.014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A93EE-C52E-4DED-AD19-92079CF8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051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−0.021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86FD9-AB75-4E84-8E50-6547CEB0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Sign-test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9467E-D65F-4D91-95AC-FC81BAEA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7.0 × 10⁻¹³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06039-F723-4444-9248-C0772FA2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5.8 × 10⁻¹²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75179-2929-4A8F-B1A4-E66FE800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71975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65219-FF5C-4C7A-80B0-5FFE795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67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Mean permutation 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29CFE-69CB-454B-BF8B-18B05686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672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0.57  (fails)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BBB64-59DD-44B1-BADB-774A5C7A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672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&lt; 0.001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40650-ED58-4129-8546-04C796E6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683927-37D9-4AC7-98B0-5E2E5101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it shows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ABEE9E-FF7B-4637-8F59-44A113CF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911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Changing the data-flow relation changes output attribution beyond token identity.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DE316-3581-4579-86A6-833999B0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Strength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56BB70-44AE-44F5-BDC7-0A23E9F0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Weak: 1–2% of the answer score; observational; depth does not replicate across scale.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C10762-0EF8-49EE-BD20-F824F702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Open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18B51E-3F86-473C-9A32-956C3191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817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attribution does not trace a simple ‘follow the active taint chain’ mechanism.</a:t>
            </a:r>
          </a:p>
        </p:txBody>
      </p:sp>
    </p:spTree>
    <p:extLst>
      <p:ext uri="{BB962C8B-B14F-4D97-AF65-F5344CB8AC3E}">
        <p14:creationId xmlns:p14="http://schemas.microsoft.com/office/powerpoint/2010/main" val="2121399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4DA94-2683-4DB5-AC7B-6E56F9B3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Yes/no taint question: poor decisions, informative margins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CD0FE-7B09-4D89-A902-0C806945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FC0DD-8640-4787-BB69-E17A47AE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7014C-B760-4EBE-9166-7BCD4C6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668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“Is the value passed to the sink tainted? Answer yes or no.”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6953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8ba7fde27c4ae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31057-FC0D-4934-9FA1-A748A420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35718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78FCE-0578-42E6-A322-FB783CDB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Final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1F599-00C2-4FC0-B335-73E037CD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2880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C64B0-07B7-4B14-BC1E-47C12015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431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Models collapse to one answer token: always ‘no’ or always ‘yes’.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3F1A1-05B4-4A81-81E8-DA55CF1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571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D478A-0951-4B3F-BCF4-87D963AC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62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Margin ordering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31C8A-EE09-42CD-A090-15B9FB1D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9975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69–92%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AA13A-C68E-4A0C-B169-F3BEAC02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Unsafe programs usually move the yes−no score in the correct direction relative to matched safe programs.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5E44D-B536-405E-A3F0-EC3BC2AE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126A9-8FB0-4A87-8392-AF87DE22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966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93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distinction affects output scores, but the decision threshold is badly calibrated. This is not reliable task performance.</a:t>
            </a:r>
          </a:p>
        </p:txBody>
      </p:sp>
    </p:spTree>
    <p:extLst>
      <p:ext uri="{BB962C8B-B14F-4D97-AF65-F5344CB8AC3E}">
        <p14:creationId xmlns:p14="http://schemas.microsoft.com/office/powerpoint/2010/main" val="544234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7027A-C444-4FD5-B3EC-D89238C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DAS asks whether a semantic coordinate controls the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A4280-7CC8-4F91-A514-E29234BB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7F731-6405-4EB7-91D0-B04BE7BE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Binding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96869-396C-40FA-8710-5C12715E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90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Learn one direction that distinguishes which definition a use refers to; interchange only that coordinate.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E89A7-5314-4FAC-9575-05EC7BA1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Factorial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CF632-4A40-4E6C-AA3F-0C619A8F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621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same binding change requires opposite answer-token movements in the two arms.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20FD4-A082-479F-8A3E-8CF90E3E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Account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B59D2-D545-49A9-A644-5E627996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431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Train arm 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6D4A0-E9CD-49F5-8F63-CA4318F9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Held-out arm 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FFA35-DFF8-47D1-8AF6-517226EE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02D55-17DB-4425-B05E-0E318824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Binding representation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81557-86F4-4FD6-A7C8-FA948346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rPr>
              <a:t>positive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E02B1-2262-4351-9302-560D2B80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rPr>
              <a:t>positive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D4CD0-6815-4C73-B057-B7FBB820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Fixed token / answer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8E0A8-6188-4077-AA47-EBA19A87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rPr>
              <a:t>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641E0-0282-4DFC-97C1-C31F4E62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2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23B3B"/>
                </a:solidFill>
                <a:latin typeface="Helvetica Neue"/>
                <a:ea typeface="Helvetica Neue"/>
                <a:cs typeface="Helvetica Neue"/>
              </a:rPr>
              <a:t>negative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2AFD8-B4B0-4A79-B600-430C4106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291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FD60C-F2FD-4EF4-A4FC-3CF6998A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Required DAS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8AC4B-5AF7-491F-AC89-6D6670A9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2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rPr>
              <a:t>positive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C65D9-9305-4CD2-AC7D-8E26A7C3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8A60"/>
                </a:solidFill>
                <a:latin typeface="Helvetica Neue"/>
                <a:ea typeface="Helvetica Neue"/>
                <a:cs typeface="Helvetica Neue"/>
              </a:rPr>
              <a:t>positive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81CED-2B66-48BD-8299-F32D5FDB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Intervention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11054-0484-411E-ADC5-E70144E3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3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rank 1 · variable-use site · no dose parameter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893AA-C714-482C-88FC-1AAB4E5A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Protocol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39C6F-791A-4609-BD1F-3E175479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816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120 calibration bases · 280 held-out test bases · full-vocabulary argmax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E9920-3CFF-4BDC-839F-2C4B0D04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Models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BFDB1-D41C-467F-B0BC-2270E7FD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388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DeepSeek-Coder 6.7B (L8) · StarCoder2 3B (L11)</a:t>
            </a:r>
          </a:p>
        </p:txBody>
      </p:sp>
    </p:spTree>
    <p:extLst>
      <p:ext uri="{BB962C8B-B14F-4D97-AF65-F5344CB8AC3E}">
        <p14:creationId xmlns:p14="http://schemas.microsoft.com/office/powerpoint/2010/main" val="562839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8420C-003A-4506-A75C-A5A2CD62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Rank-1 binding interchange controls the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B89BA-6512-4068-B1C7-309EEBF3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9D397-C632-4F01-889A-890C9F6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Installed-binding emission · held-out arm ba · 560 rows / 280 bases per model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239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204b8a3ceb455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C30BA-0464-4C6A-9310-F436E341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CD3FB-C318-4FD4-9D8E-EC3CBDAD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FCDAE-D907-4723-A0AB-44BC4C5D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66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both models · both arms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83FD1-1248-4C8D-9596-FED33BC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Edit magnitude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2792B-B482-4EDD-A90B-1AAA4C34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DAS: 47.9% of hidden-state norm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D67B9-09D3-44C3-AD51-A132247A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Mean difference: 71.0% / 71.9%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FFD48-7544-4F13-A916-AE923E2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6875"/>
                </a:solidFill>
                <a:latin typeface="Helvetica Neue"/>
                <a:ea typeface="Helvetica Neue"/>
                <a:cs typeface="Helvetica Neue"/>
              </a:rPr>
              <a:t>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FC635-6298-47F0-88EB-C5331D7F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6/6 gates · 14/14 machinery checks · 0% non-candidate 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5D0C9-DCE2-45F1-857E-68D6ADE4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674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Licensed 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9E551-B066-4231-821C-CCB5D4B3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8102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Binding information is not only decodable: changing it changes the model's output.</a:t>
            </a:r>
          </a:p>
        </p:txBody>
      </p:sp>
    </p:spTree>
    <p:extLst>
      <p:ext uri="{BB962C8B-B14F-4D97-AF65-F5344CB8AC3E}">
        <p14:creationId xmlns:p14="http://schemas.microsoft.com/office/powerpoint/2010/main" val="638870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2026-08-25T09:03:29.0920000Z</dcterms:created>
  <dcterms:modified xsi:type="dcterms:W3CDTF">2026-08-25T09:03:29.0920000Z</dcterms:modified>
</coreProperties>
</file>